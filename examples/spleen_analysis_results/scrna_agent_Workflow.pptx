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scRNA-seq Analysis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Workflow for Single-Cell RNA Sequencing Analysis</a:t>
            </a:r>
          </a:p>
          <a:p/>
          <a:p>
            <a:r>
              <a:t>Spleen Dataset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Purpose: Automated end-to-end scRNA-seq analysis pipeline</a:t>
            </a:r>
          </a:p>
          <a:p>
            <a:pPr>
              <a:spcAft>
                <a:spcPts val="1000"/>
              </a:spcAft>
              <a:defRPr sz="1800"/>
            </a:pPr>
            <a:r>
              <a:t>Input: H5AD file with raw/processed single-cell data</a:t>
            </a:r>
          </a:p>
          <a:p>
            <a:pPr>
              <a:spcAft>
                <a:spcPts val="1000"/>
              </a:spcAft>
              <a:defRPr sz="1800"/>
            </a:pPr>
            <a:r>
              <a:t>Pipeline: QC → Normalization → Integration → Clustering → Annotation</a:t>
            </a:r>
          </a:p>
          <a:p>
            <a:pPr>
              <a:spcAft>
                <a:spcPts val="1000"/>
              </a:spcAft>
              <a:defRPr sz="1800"/>
            </a:pPr>
            <a:r>
              <a:t>Output: Annotated dataset, visualizations, and comprehensive reports</a:t>
            </a:r>
          </a:p>
          <a:p>
            <a:pPr>
              <a:spcAft>
                <a:spcPts val="1000"/>
              </a:spcAft>
              <a:defRPr sz="1800"/>
            </a:pPr>
            <a:r>
              <a:t>Key Features: Harmony integration, Louvain clustering, automated annotation</a:t>
            </a:r>
          </a:p>
          <a:p>
            <a:pPr>
              <a:spcAft>
                <a:spcPts val="1000"/>
              </a:spcAft>
              <a:defRPr sz="1800"/>
            </a:pPr>
            <a:r>
              <a:t>Handles large datasets: 400K+ cells efficiently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Overall Agent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828800" cy="548640"/>
          </a:xfrm>
          <a:prstGeom prst="roundRect">
            <a:avLst/>
          </a:prstGeom>
          <a:solidFill>
            <a:srgbClr val="64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 Data</a:t>
            </a:r>
          </a:p>
          <a:p>
            <a:r>
              <a:t>Spleen.h5ad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64592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371600"/>
            <a:ext cx="1828800" cy="54864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Stage 1</a:t>
            </a:r>
          </a:p>
          <a:p>
            <a:r>
              <a:t>Data Loading &amp; QC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164592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0" y="1371600"/>
            <a:ext cx="1828800" cy="54864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Stage 2</a:t>
            </a:r>
          </a:p>
          <a:p>
            <a:r>
              <a:t>Preprocessing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192024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0" y="2286000"/>
            <a:ext cx="1828800" cy="54864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Stage 3</a:t>
            </a:r>
          </a:p>
          <a:p>
            <a:r>
              <a:t>Harmony Integration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283464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0" y="3200400"/>
            <a:ext cx="1828800" cy="54864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Stage 4</a:t>
            </a:r>
          </a:p>
          <a:p>
            <a:r>
              <a:t>Clustering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029200" y="3749039"/>
            <a:ext cx="457200" cy="365761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00400" y="4114800"/>
            <a:ext cx="1828800" cy="54864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Stage 5</a:t>
            </a:r>
          </a:p>
          <a:p>
            <a:r>
              <a:t>Cell Type Annotation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2286000" y="438912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" y="4114800"/>
            <a:ext cx="1828800" cy="548640"/>
          </a:xfrm>
          <a:prstGeom prst="roundRect">
            <a:avLst/>
          </a:prstGeom>
          <a:solidFill>
            <a:srgbClr val="FFB4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Outputs</a:t>
            </a:r>
          </a:p>
          <a:p>
            <a:r>
              <a:t>Plots &amp;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Dataset: 461,102 cells</a:t>
            </a:r>
          </a:p>
          <a:p>
            <a:r>
              <a:t>31 clusters</a:t>
            </a:r>
          </a:p>
          <a:p>
            <a:r>
              <a:t>11 major cell types</a:t>
            </a:r>
          </a:p>
          <a:p>
            <a:r>
              <a:t>31 refined subtypes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1: Data Loading &amp; Quality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743200" cy="73152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Loading &amp; QC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Input: Spleen.h5ad (489,535 cells × 32,194 genes)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Operations:</a:t>
            </a:r>
          </a:p>
          <a:p>
            <a:pPr>
              <a:spcAft>
                <a:spcPts val="1000"/>
              </a:spcAft>
              <a:defRPr sz="1400"/>
            </a:pPr>
            <a:r>
              <a:t>  • Load H5AD file using scanpy</a:t>
            </a:r>
          </a:p>
          <a:p>
            <a:pPr>
              <a:spcAft>
                <a:spcPts val="1000"/>
              </a:spcAft>
              <a:defRPr sz="1400"/>
            </a:pPr>
            <a:r>
              <a:t>  • Examine metadata (samples, batches, conditions)</a:t>
            </a:r>
          </a:p>
          <a:p>
            <a:pPr>
              <a:spcAft>
                <a:spcPts val="1000"/>
              </a:spcAft>
              <a:defRPr sz="1400"/>
            </a:pPr>
            <a:r>
              <a:t>  • Calculate QC metrics (nGenes, nUMIs, MT ratio)</a:t>
            </a:r>
          </a:p>
          <a:p>
            <a:pPr>
              <a:spcAft>
                <a:spcPts val="1000"/>
              </a:spcAft>
              <a:defRPr sz="1400"/>
            </a:pPr>
            <a:r>
              <a:t>  • Filter doublets (removed 28,433 cells)</a:t>
            </a:r>
          </a:p>
          <a:p>
            <a:pPr>
              <a:spcAft>
                <a:spcPts val="1000"/>
              </a:spcAft>
              <a:defRPr sz="1400"/>
            </a:pPr>
            <a:r>
              <a:t>  • Retained: 461,102 high-quality singlet cells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Key Metrics:</a:t>
            </a:r>
          </a:p>
          <a:p>
            <a:pPr>
              <a:spcAft>
                <a:spcPts val="1000"/>
              </a:spcAft>
              <a:defRPr sz="1400"/>
            </a:pPr>
            <a:r>
              <a:t>  • Median genes/cell: 1,505</a:t>
            </a:r>
          </a:p>
          <a:p>
            <a:pPr>
              <a:spcAft>
                <a:spcPts val="1000"/>
              </a:spcAft>
              <a:defRPr sz="1400"/>
            </a:pPr>
            <a:r>
              <a:t>  • Median UMIs/cell: 3,496</a:t>
            </a:r>
          </a:p>
          <a:p>
            <a:pPr>
              <a:spcAft>
                <a:spcPts val="1000"/>
              </a:spcAft>
              <a:defRPr sz="1400"/>
            </a:pPr>
            <a:r>
              <a:t>  • Median MT ratio: 3.3%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2: Preprocessing &amp; Normalization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743200" cy="73152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Step 1: Normalization</a:t>
            </a:r>
          </a:p>
          <a:p>
            <a:pPr>
              <a:spcAft>
                <a:spcPts val="1000"/>
              </a:spcAft>
              <a:defRPr sz="1400"/>
            </a:pPr>
            <a:r>
              <a:t>  • Total count normalization to 10,000 UMIs per cell</a:t>
            </a:r>
          </a:p>
          <a:p>
            <a:pPr>
              <a:spcAft>
                <a:spcPts val="1000"/>
              </a:spcAft>
              <a:defRPr sz="1400"/>
            </a:pPr>
            <a:r>
              <a:t>  • Log transformation: log(count + 1)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Step 2: Feature Selection</a:t>
            </a:r>
          </a:p>
          <a:p>
            <a:pPr>
              <a:spcAft>
                <a:spcPts val="1000"/>
              </a:spcAft>
              <a:defRPr sz="1400"/>
            </a:pPr>
            <a:r>
              <a:t>  • Identify 3,000 highly variable genes (HVGs)</a:t>
            </a:r>
          </a:p>
          <a:p>
            <a:pPr>
              <a:spcAft>
                <a:spcPts val="1000"/>
              </a:spcAft>
              <a:defRPr sz="1400"/>
            </a:pPr>
            <a:r>
              <a:t>  • Batch-aware selection using orig.ident</a:t>
            </a:r>
          </a:p>
          <a:p>
            <a:pPr>
              <a:spcAft>
                <a:spcPts val="1000"/>
              </a:spcAft>
              <a:defRPr sz="1400"/>
            </a:pPr>
            <a:r>
              <a:t>  • Focus on biologically informative genes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Step 3: Scaling</a:t>
            </a:r>
          </a:p>
          <a:p>
            <a:pPr>
              <a:spcAft>
                <a:spcPts val="1000"/>
              </a:spcAft>
              <a:defRPr sz="1400"/>
            </a:pPr>
            <a:r>
              <a:t>  • Scale to unit variance</a:t>
            </a:r>
          </a:p>
          <a:p>
            <a:pPr>
              <a:spcAft>
                <a:spcPts val="1000"/>
              </a:spcAft>
              <a:defRPr sz="1400"/>
            </a:pPr>
            <a:r>
              <a:t>  • Maximum value clipped at 10</a:t>
            </a:r>
          </a:p>
          <a:p>
            <a:pPr>
              <a:spcAft>
                <a:spcPts val="1000"/>
              </a:spcAft>
              <a:defRPr sz="1400"/>
            </a:pPr>
            <a:r>
              <a:t>  • Prepare for PCA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Output: Normalized, log-transformed, scaled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3: Dimensionality Reduction &amp;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PCA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43200" y="169164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371600"/>
            <a:ext cx="2286000" cy="640080"/>
          </a:xfrm>
          <a:prstGeom prst="roundRect">
            <a:avLst/>
          </a:prstGeom>
          <a:solidFill>
            <a:srgbClr val="FF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Select nPCs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169164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43600" y="1371600"/>
            <a:ext cx="22860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Harmony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PCA (Principal Component Analysis):</a:t>
            </a:r>
          </a:p>
          <a:p>
            <a:pPr>
              <a:spcAft>
                <a:spcPts val="1000"/>
              </a:spcAft>
              <a:defRPr sz="1300"/>
            </a:pPr>
            <a:r>
              <a:t>  • Computed 50 principal components</a:t>
            </a:r>
          </a:p>
          <a:p>
            <a:pPr>
              <a:spcAft>
                <a:spcPts val="1000"/>
              </a:spcAft>
              <a:defRPr sz="1300"/>
            </a:pPr>
            <a:r>
              <a:t>  • Tested range: 30-50 PCs</a:t>
            </a:r>
          </a:p>
          <a:p>
            <a:pPr>
              <a:spcAft>
                <a:spcPts val="1000"/>
              </a:spcAft>
              <a:defRPr sz="1300"/>
            </a:pPr>
            <a:r>
              <a:t>  • Selected: 40 PCs (optimal balance)</a:t>
            </a:r>
          </a:p>
          <a:p>
            <a:pPr>
              <a:spcAft>
                <a:spcPts val="1000"/>
              </a:spcAft>
              <a:defRPr sz="1300"/>
            </a:pPr>
            <a:r>
              <a:t>  • Variance explained: 17.9%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Harmony Batch Correction:</a:t>
            </a:r>
          </a:p>
          <a:p>
            <a:pPr>
              <a:spcAft>
                <a:spcPts val="1000"/>
              </a:spcAft>
              <a:defRPr sz="1300"/>
            </a:pPr>
            <a:r>
              <a:t>  • Integration variable: orig.ident (73 samples)</a:t>
            </a:r>
          </a:p>
          <a:p>
            <a:pPr>
              <a:spcAft>
                <a:spcPts val="1000"/>
              </a:spcAft>
              <a:defRPr sz="1300"/>
            </a:pPr>
            <a:r>
              <a:t>  • Method: Iterative clustering and correction</a:t>
            </a:r>
          </a:p>
          <a:p>
            <a:pPr>
              <a:spcAft>
                <a:spcPts val="1000"/>
              </a:spcAft>
              <a:defRPr sz="1300"/>
            </a:pPr>
            <a:r>
              <a:t>  • Converged in 11 iterations</a:t>
            </a:r>
          </a:p>
          <a:p>
            <a:pPr>
              <a:spcAft>
                <a:spcPts val="1000"/>
              </a:spcAft>
              <a:defRPr sz="1300"/>
            </a:pPr>
            <a:r>
              <a:t>  • Removes technical batch effects</a:t>
            </a:r>
          </a:p>
          <a:p>
            <a:pPr>
              <a:spcAft>
                <a:spcPts val="1000"/>
              </a:spcAft>
              <a:defRPr sz="1300"/>
            </a:pPr>
            <a:r>
              <a:t>  • Preserves biological variation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Result: Batch-corrected PCA coordinates for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4: Clustering &amp;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2860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Neighbors Graph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00400" y="169164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657600" y="1371600"/>
            <a:ext cx="18288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Louvain</a:t>
            </a:r>
          </a:p>
          <a:p>
            <a:r>
              <a:t>Clustering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169164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43600" y="1371600"/>
            <a:ext cx="18288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Neighbor Graph Construction:</a:t>
            </a:r>
          </a:p>
          <a:p>
            <a:pPr>
              <a:spcAft>
                <a:spcPts val="1000"/>
              </a:spcAft>
              <a:defRPr sz="1300"/>
            </a:pPr>
            <a:r>
              <a:t>  • k-nearest neighbors: 15</a:t>
            </a:r>
          </a:p>
          <a:p>
            <a:pPr>
              <a:spcAft>
                <a:spcPts val="1000"/>
              </a:spcAft>
              <a:defRPr sz="1300"/>
            </a:pPr>
            <a:r>
              <a:t>  • Using Harmony-corrected PCA (40 PCs)</a:t>
            </a:r>
          </a:p>
          <a:p>
            <a:pPr>
              <a:spcAft>
                <a:spcPts val="1000"/>
              </a:spcAft>
              <a:defRPr sz="1300"/>
            </a:pPr>
            <a:r>
              <a:t>  • Euclidean distance metric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Louvain Clustering:</a:t>
            </a:r>
          </a:p>
          <a:p>
            <a:pPr>
              <a:spcAft>
                <a:spcPts val="1000"/>
              </a:spcAft>
              <a:defRPr sz="1300"/>
            </a:pPr>
            <a:r>
              <a:t>  • Community detection algorithm</a:t>
            </a:r>
          </a:p>
          <a:p>
            <a:pPr>
              <a:spcAft>
                <a:spcPts val="1000"/>
              </a:spcAft>
              <a:defRPr sz="1300"/>
            </a:pPr>
            <a:r>
              <a:t>  • Tested resolutions: 0.5, 0.8, 1.0, 1.2</a:t>
            </a:r>
          </a:p>
          <a:p>
            <a:pPr>
              <a:spcAft>
                <a:spcPts val="1000"/>
              </a:spcAft>
              <a:defRPr sz="1300"/>
            </a:pPr>
            <a:r>
              <a:t>  • Selected resolution: 1.0 → 31 clusters</a:t>
            </a:r>
          </a:p>
          <a:p>
            <a:pPr>
              <a:spcAft>
                <a:spcPts val="1000"/>
              </a:spcAft>
              <a:defRPr sz="1300"/>
            </a:pPr>
            <a:r>
              <a:t>  • Resolution 0.5: 19 clusters (too coarse)</a:t>
            </a:r>
          </a:p>
          <a:p>
            <a:pPr>
              <a:spcAft>
                <a:spcPts val="1000"/>
              </a:spcAft>
              <a:defRPr sz="1300"/>
            </a:pPr>
            <a:r>
              <a:t>  • Resolution 1.2: 33 clusters (too fine)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UMAP Visualization:</a:t>
            </a:r>
          </a:p>
          <a:p>
            <a:pPr>
              <a:spcAft>
                <a:spcPts val="1000"/>
              </a:spcAft>
              <a:defRPr sz="1300"/>
            </a:pPr>
            <a:r>
              <a:t>  • 2D projection for visualization</a:t>
            </a:r>
          </a:p>
          <a:p>
            <a:pPr>
              <a:spcAft>
                <a:spcPts val="1000"/>
              </a:spcAft>
              <a:defRPr sz="1300"/>
            </a:pPr>
            <a:r>
              <a:t>  • Generated before and after integration</a:t>
            </a:r>
          </a:p>
          <a:p>
            <a:pPr>
              <a:spcAft>
                <a:spcPts val="1000"/>
              </a:spcAft>
              <a:defRPr sz="1300"/>
            </a:pPr>
            <a:r>
              <a:t>  • Random seed: 42 (reproducible)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5a: Marker Gene Identification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45720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Differential Expression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Method: Wilcoxon Rank-Sum Test</a:t>
            </a:r>
          </a:p>
          <a:p>
            <a:pPr>
              <a:spcAft>
                <a:spcPts val="1000"/>
              </a:spcAft>
              <a:defRPr sz="1400"/>
            </a:pPr>
            <a:r>
              <a:t>  • Compare each cluster vs. all other cells</a:t>
            </a:r>
          </a:p>
          <a:p>
            <a:pPr>
              <a:spcAft>
                <a:spcPts val="1000"/>
              </a:spcAft>
              <a:defRPr sz="1400"/>
            </a:pPr>
            <a:r>
              <a:t>  • Non-parametric test (no distribution assumptions)</a:t>
            </a:r>
          </a:p>
          <a:p>
            <a:pPr>
              <a:spcAft>
                <a:spcPts val="1000"/>
              </a:spcAft>
              <a:defRPr sz="1400"/>
            </a:pPr>
            <a:r>
              <a:t>  • Identify significantly upregulated genes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For each cluster:</a:t>
            </a:r>
          </a:p>
          <a:p>
            <a:pPr>
              <a:spcAft>
                <a:spcPts val="1000"/>
              </a:spcAft>
              <a:defRPr sz="1400"/>
            </a:pPr>
            <a:r>
              <a:t>  • Calculate fold changes and p-values</a:t>
            </a:r>
          </a:p>
          <a:p>
            <a:pPr>
              <a:spcAft>
                <a:spcPts val="1000"/>
              </a:spcAft>
              <a:defRPr sz="1400"/>
            </a:pPr>
            <a:r>
              <a:t>  • Rank genes by statistical significance</a:t>
            </a:r>
          </a:p>
          <a:p>
            <a:pPr>
              <a:spcAft>
                <a:spcPts val="1000"/>
              </a:spcAft>
              <a:defRPr sz="1400"/>
            </a:pPr>
            <a:r>
              <a:t>  • Select top 10 marker genes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Output:</a:t>
            </a:r>
          </a:p>
          <a:p>
            <a:pPr>
              <a:spcAft>
                <a:spcPts val="1000"/>
              </a:spcAft>
              <a:defRPr sz="1400"/>
            </a:pPr>
            <a:r>
              <a:t>  • Marker gene heatmap (top 5 genes × 31 clusters)</a:t>
            </a:r>
          </a:p>
          <a:p>
            <a:pPr>
              <a:spcAft>
                <a:spcPts val="1000"/>
              </a:spcAft>
              <a:defRPr sz="1400"/>
            </a:pPr>
            <a:r>
              <a:t>  • CSV file with all markers</a:t>
            </a:r>
          </a:p>
          <a:p>
            <a:pPr>
              <a:spcAft>
                <a:spcPts val="1000"/>
              </a:spcAft>
              <a:defRPr sz="1400"/>
            </a:pPr>
            <a:r>
              <a:t>  • Used for cell type annotation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Stage 5b: Cell Type Annotation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828800" cy="54864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Marker Genes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164592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371600"/>
            <a:ext cx="1828800" cy="548640"/>
          </a:xfrm>
          <a:prstGeom prst="roundRect">
            <a:avLst/>
          </a:prstGeom>
          <a:solidFill>
            <a:srgbClr val="FF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Compare to</a:t>
            </a:r>
          </a:p>
          <a:p>
            <a:r>
              <a:t>Database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164592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0" y="1371600"/>
            <a:ext cx="1828800" cy="54864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Assign</a:t>
            </a:r>
          </a:p>
          <a:p>
            <a:r>
              <a:t>Cell Type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1645920"/>
            <a:ext cx="4572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371600"/>
            <a:ext cx="1371600" cy="548640"/>
          </a:xfrm>
          <a:prstGeom prst="roundRect">
            <a:avLst/>
          </a:prstGeom>
          <a:solidFill>
            <a:srgbClr val="FFB4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Annotated</a:t>
            </a:r>
          </a:p>
          <a:p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Annotation Strategy: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1. Automated Scoring:</a:t>
            </a:r>
          </a:p>
          <a:p>
            <a:pPr>
              <a:spcAft>
                <a:spcPts val="1000"/>
              </a:spcAft>
              <a:defRPr sz="1200"/>
            </a:pPr>
            <a:r>
              <a:t>   • Match cluster markers to known cell type signatures</a:t>
            </a:r>
          </a:p>
          <a:p>
            <a:pPr>
              <a:spcAft>
                <a:spcPts val="1000"/>
              </a:spcAft>
              <a:defRPr sz="1200"/>
            </a:pPr>
            <a:r>
              <a:t>   • Score based on canonical markers (CD3E, CD79A, etc.)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2. Manual Refinement:</a:t>
            </a:r>
          </a:p>
          <a:p>
            <a:pPr>
              <a:spcAft>
                <a:spcPts val="1000"/>
              </a:spcAft>
              <a:defRPr sz="1200"/>
            </a:pPr>
            <a:r>
              <a:t>   • Review top marker genes per cluster</a:t>
            </a:r>
          </a:p>
          <a:p>
            <a:pPr>
              <a:spcAft>
                <a:spcPts val="1000"/>
              </a:spcAft>
              <a:defRPr sz="1200"/>
            </a:pPr>
            <a:r>
              <a:t>   • Biological knowledge of spleen cell types</a:t>
            </a:r>
          </a:p>
          <a:p>
            <a:pPr>
              <a:spcAft>
                <a:spcPts val="1000"/>
              </a:spcAft>
              <a:defRPr sz="1200"/>
            </a:pPr>
            <a:r>
              <a:t>   • Cluster 0: BANK1, MS4A1 → B cells (Naive)</a:t>
            </a:r>
          </a:p>
          <a:p>
            <a:pPr>
              <a:spcAft>
                <a:spcPts val="1000"/>
              </a:spcAft>
              <a:defRPr sz="1200"/>
            </a:pPr>
            <a:r>
              <a:t>   • Cluster 1: C1QA, C1QC → Macrophages (C1Q+)</a:t>
            </a:r>
          </a:p>
          <a:p>
            <a:pPr>
              <a:spcAft>
                <a:spcPts val="1000"/>
              </a:spcAft>
              <a:defRPr sz="1200"/>
            </a:pPr>
            <a:r>
              <a:t>   • ... (31 clusters total)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3. Hierarchical Annotation:</a:t>
            </a:r>
          </a:p>
          <a:p>
            <a:pPr>
              <a:spcAft>
                <a:spcPts val="1000"/>
              </a:spcAft>
              <a:defRPr sz="1200"/>
            </a:pPr>
            <a:r>
              <a:t>   • Major types: 11 categories (B cells, T cells, etc.)</a:t>
            </a:r>
          </a:p>
          <a:p>
            <a:pPr>
              <a:spcAft>
                <a:spcPts val="1000"/>
              </a:spcAft>
              <a:defRPr sz="1200"/>
            </a:pPr>
            <a:r>
              <a:t>   • Refined types: 31 subtypes (CD4+ T, Naive B, etc.)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Result: Fully annotated dataset with biological labels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Output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731520"/>
          </a:xfrm>
          <a:prstGeom prst="roundRect">
            <a:avLst/>
          </a:prstGeom>
          <a:solidFill>
            <a:srgbClr val="FFB4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Visualizations</a:t>
            </a:r>
          </a:p>
          <a:p>
            <a:r>
              <a:t>(15 PNG files)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2286000" cy="731520"/>
          </a:xfrm>
          <a:prstGeom prst="roundRect">
            <a:avLst/>
          </a:prstGeom>
          <a:solidFill>
            <a:srgbClr val="FFB4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 Files</a:t>
            </a:r>
          </a:p>
          <a:p>
            <a:r>
              <a:t>(7 files)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45920"/>
            <a:ext cx="2286000" cy="731520"/>
          </a:xfrm>
          <a:prstGeom prst="roundRect">
            <a:avLst/>
          </a:prstGeom>
          <a:solidFill>
            <a:srgbClr val="FFB4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Reports</a:t>
            </a:r>
          </a:p>
          <a:p>
            <a:r>
              <a:t>(2 files)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Visualizations:</a:t>
            </a:r>
          </a:p>
          <a:p>
            <a:pPr>
              <a:spcAft>
                <a:spcPts val="1000"/>
              </a:spcAft>
              <a:defRPr sz="1100"/>
            </a:pPr>
            <a:r>
              <a:t>  • QC metrics plots</a:t>
            </a:r>
          </a:p>
          <a:p>
            <a:pPr>
              <a:spcAft>
                <a:spcPts val="1000"/>
              </a:spcAft>
              <a:defRPr sz="1100"/>
            </a:pPr>
            <a:r>
              <a:t>  • PCA variance explained</a:t>
            </a:r>
          </a:p>
          <a:p>
            <a:pPr>
              <a:spcAft>
                <a:spcPts val="1000"/>
              </a:spcAft>
              <a:defRPr sz="1100"/>
            </a:pPr>
            <a:r>
              <a:t>  • UMAP before/after integration</a:t>
            </a:r>
          </a:p>
          <a:p>
            <a:pPr>
              <a:spcAft>
                <a:spcPts val="1000"/>
              </a:spcAft>
              <a:defRPr sz="1100"/>
            </a:pPr>
            <a:r>
              <a:t>  • Clustering at multiple resolutions</a:t>
            </a:r>
          </a:p>
          <a:p>
            <a:pPr>
              <a:spcAft>
                <a:spcPts val="1000"/>
              </a:spcAft>
              <a:defRPr sz="1100"/>
            </a:pPr>
            <a:r>
              <a:t>  • Marker gene heatmaps</a:t>
            </a:r>
          </a:p>
          <a:p>
            <a:pPr>
              <a:spcAft>
                <a:spcPts val="1000"/>
              </a:spcAft>
              <a:defRPr sz="1100"/>
            </a:pPr>
            <a:r>
              <a:t>  • Cell type UMAPs (with labels)</a:t>
            </a:r>
          </a:p>
          <a:p>
            <a:pPr>
              <a:spcAft>
                <a:spcPts val="1000"/>
              </a:spcAft>
              <a:defRPr sz="1100"/>
            </a:pPr>
            <a:r>
              <a:t>  • Integration quality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Data Files:</a:t>
            </a:r>
          </a:p>
          <a:p>
            <a:pPr>
              <a:spcAft>
                <a:spcPts val="1000"/>
              </a:spcAft>
              <a:defRPr sz="1100"/>
            </a:pPr>
            <a:r>
              <a:t>  • Processed H5AD (with Harmony)</a:t>
            </a:r>
          </a:p>
          <a:p>
            <a:pPr>
              <a:spcAft>
                <a:spcPts val="1000"/>
              </a:spcAft>
              <a:defRPr sz="1100"/>
            </a:pPr>
            <a:r>
              <a:t>  • Annotated H5AD</a:t>
            </a:r>
          </a:p>
          <a:p>
            <a:pPr>
              <a:spcAft>
                <a:spcPts val="1000"/>
              </a:spcAft>
              <a:defRPr sz="1100"/>
            </a:pPr>
            <a:r>
              <a:t>  • Cell type annotations (CSV)</a:t>
            </a:r>
          </a:p>
          <a:p>
            <a:pPr>
              <a:spcAft>
                <a:spcPts val="1000"/>
              </a:spcAft>
              <a:defRPr sz="1100"/>
            </a:pPr>
            <a:r>
              <a:t>  • Cluster assignments (CSV)</a:t>
            </a:r>
          </a:p>
          <a:p>
            <a:pPr>
              <a:spcAft>
                <a:spcPts val="1000"/>
              </a:spcAft>
              <a:defRPr sz="1100"/>
            </a:pPr>
            <a:r>
              <a:t>  • UMAP coordinates (CSV)</a:t>
            </a:r>
          </a:p>
          <a:p>
            <a:pPr>
              <a:spcAft>
                <a:spcPts val="1000"/>
              </a:spcAft>
              <a:defRPr sz="1100"/>
            </a:pPr>
            <a:r>
              <a:t>  • Marker genes per cluster (CSV)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/>
            </a:pPr>
            <a:r>
              <a:t>Reports:</a:t>
            </a:r>
          </a:p>
          <a:p>
            <a:pPr>
              <a:spcAft>
                <a:spcPts val="1000"/>
              </a:spcAft>
              <a:defRPr sz="1100"/>
            </a:pPr>
            <a:r>
              <a:t>  • Comprehensive markdown report</a:t>
            </a:r>
          </a:p>
          <a:p>
            <a:pPr>
              <a:spcAft>
                <a:spcPts val="1000"/>
              </a:spcAft>
              <a:defRPr sz="1100"/>
            </a:pPr>
            <a:r>
              <a:t>  • Annotation summary (TXT)</a:t>
            </a:r>
          </a:p>
          <a:p>
            <a:pPr>
              <a:spcAft>
                <a:spcPts val="1000"/>
              </a:spcAft>
              <a:defRPr sz="1100"/>
            </a:pPr>
            <a:r>
              <a:t>  • PowerPoint presentations</a:t>
            </a:r>
          </a:p>
          <a:p>
            <a:pPr>
              <a:spcAft>
                <a:spcPts val="1000"/>
              </a:spcAft>
              <a:defRPr sz="1100"/>
            </a:pPr>
            <a:r>
              <a:t>  • All ready for publication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Complete Data 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645920" cy="457200"/>
          </a:xfrm>
          <a:prstGeom prst="roundRect">
            <a:avLst/>
          </a:prstGeom>
          <a:solidFill>
            <a:srgbClr val="64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Spleen.h5ad</a:t>
            </a:r>
          </a:p>
          <a:p>
            <a:r>
              <a:t>489K cells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160020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80" y="1371600"/>
            <a:ext cx="1645920" cy="45720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QC Filter</a:t>
            </a:r>
          </a:p>
          <a:p>
            <a:r>
              <a:t>461K cells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160020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60" y="1371600"/>
            <a:ext cx="1645920" cy="45720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Normalize</a:t>
            </a:r>
          </a:p>
          <a:p>
            <a:r>
              <a:t>&amp; Scale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0" y="160020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92240" y="1371600"/>
            <a:ext cx="1645920" cy="45720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3000 HVGs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0" y="182880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92240" y="219456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PCA</a:t>
            </a:r>
          </a:p>
          <a:p>
            <a:r>
              <a:t>50 PCs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65176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92240" y="301752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Harmony</a:t>
            </a:r>
          </a:p>
          <a:p>
            <a:r>
              <a:t>40 PCs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6126480" y="324612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80560" y="301752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Neighbors</a:t>
            </a:r>
          </a:p>
          <a:p>
            <a:r>
              <a:t>k=15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114800" y="324612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468880" y="301752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Louvain</a:t>
            </a:r>
          </a:p>
          <a:p>
            <a:r>
              <a:t>31 clusters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103120" y="324612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301752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UMAP</a:t>
            </a:r>
          </a:p>
          <a:p>
            <a:r>
              <a:t>2D viz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80160" y="347472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57200" y="384048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Markers</a:t>
            </a:r>
          </a:p>
          <a:p>
            <a:r>
              <a:t>DEG test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03120" y="406908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468880" y="384048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Annotate</a:t>
            </a:r>
          </a:p>
          <a:p>
            <a:r>
              <a:t>11 types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406908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480560" y="3840480"/>
            <a:ext cx="1645920" cy="45720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Refine</a:t>
            </a:r>
          </a:p>
          <a:p>
            <a:r>
              <a:t>31 subtypes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0" y="4069080"/>
            <a:ext cx="36576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92240" y="3840480"/>
            <a:ext cx="1645920" cy="457200"/>
          </a:xfrm>
          <a:prstGeom prst="roundRect">
            <a:avLst/>
          </a:prstGeom>
          <a:solidFill>
            <a:srgbClr val="FFB4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Outputs</a:t>
            </a:r>
          </a:p>
          <a:p>
            <a:r>
              <a:t>24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Total Processing Time: ~90 minutes  |  Dataset Size: 461K cells × 32K genes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Analysis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Quality Control:</a:t>
            </a:r>
          </a:p>
          <a:p>
            <a:pPr>
              <a:spcAft>
                <a:spcPts val="1000"/>
              </a:spcAft>
              <a:defRPr sz="1300"/>
            </a:pPr>
            <a:r>
              <a:t>  • Doublet filtering: Singlets only</a:t>
            </a:r>
          </a:p>
          <a:p>
            <a:pPr>
              <a:spcAft>
                <a:spcPts val="1000"/>
              </a:spcAft>
              <a:defRPr sz="1300"/>
            </a:pPr>
            <a:r>
              <a:t>  • No additional filtering (pre-filtered data)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Normalization:</a:t>
            </a:r>
          </a:p>
          <a:p>
            <a:pPr>
              <a:spcAft>
                <a:spcPts val="1000"/>
              </a:spcAft>
              <a:defRPr sz="1300"/>
            </a:pPr>
            <a:r>
              <a:t>  • Target sum: 10,000 UMIs per cell</a:t>
            </a:r>
          </a:p>
          <a:p>
            <a:pPr>
              <a:spcAft>
                <a:spcPts val="1000"/>
              </a:spcAft>
              <a:defRPr sz="1300"/>
            </a:pPr>
            <a:r>
              <a:t>  • Transformation: log(count + 1)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Feature Selection:</a:t>
            </a:r>
          </a:p>
          <a:p>
            <a:pPr>
              <a:spcAft>
                <a:spcPts val="1000"/>
              </a:spcAft>
              <a:defRPr sz="1300"/>
            </a:pPr>
            <a:r>
              <a:t>  • Number of HVGs: 3,000 genes</a:t>
            </a:r>
          </a:p>
          <a:p>
            <a:pPr>
              <a:spcAft>
                <a:spcPts val="1000"/>
              </a:spcAft>
              <a:defRPr sz="1300"/>
            </a:pPr>
            <a:r>
              <a:t>  • Batch-aware: Yes (using orig.ident)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Dimensionality Reduction:</a:t>
            </a:r>
          </a:p>
          <a:p>
            <a:pPr>
              <a:spcAft>
                <a:spcPts val="1000"/>
              </a:spcAft>
              <a:defRPr sz="1300"/>
            </a:pPr>
            <a:r>
              <a:t>  • PCA components: 50 computed, 40 used</a:t>
            </a:r>
          </a:p>
          <a:p>
            <a:pPr>
              <a:spcAft>
                <a:spcPts val="1000"/>
              </a:spcAft>
              <a:defRPr sz="1300"/>
            </a:pPr>
            <a:r>
              <a:t>  • Harmony: 11 iterations to convergence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Clustering:</a:t>
            </a:r>
          </a:p>
          <a:p>
            <a:pPr>
              <a:spcAft>
                <a:spcPts val="1000"/>
              </a:spcAft>
              <a:defRPr sz="1300"/>
            </a:pPr>
            <a:r>
              <a:t>  • Algorithm: Louvain</a:t>
            </a:r>
          </a:p>
          <a:p>
            <a:pPr>
              <a:spcAft>
                <a:spcPts val="1000"/>
              </a:spcAft>
              <a:defRPr sz="1300"/>
            </a:pPr>
            <a:r>
              <a:t>  • Resolution: 1.0</a:t>
            </a:r>
          </a:p>
          <a:p>
            <a:pPr>
              <a:spcAft>
                <a:spcPts val="1000"/>
              </a:spcAft>
              <a:defRPr sz="1300"/>
            </a:pPr>
            <a:r>
              <a:t>  • Number of neighbors: 15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Visualization:</a:t>
            </a:r>
          </a:p>
          <a:p>
            <a:pPr>
              <a:spcAft>
                <a:spcPts val="1000"/>
              </a:spcAft>
              <a:defRPr sz="1300"/>
            </a:pPr>
            <a:r>
              <a:t>  • UMAP: default parameters</a:t>
            </a:r>
          </a:p>
          <a:p>
            <a:pPr>
              <a:spcAft>
                <a:spcPts val="1000"/>
              </a:spcAft>
              <a:defRPr sz="1300"/>
            </a:pPr>
            <a:r>
              <a:t>  • Random seed: 42 (reproducible)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Software Stack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Core Libraries:</a:t>
            </a:r>
          </a:p>
          <a:p>
            <a:pPr>
              <a:spcAft>
                <a:spcPts val="1000"/>
              </a:spcAft>
              <a:defRPr sz="1400"/>
            </a:pPr>
            <a:r>
              <a:t>  • scanpy (v1.11.2): Main analysis framework</a:t>
            </a:r>
          </a:p>
          <a:p>
            <a:pPr>
              <a:spcAft>
                <a:spcPts val="1000"/>
              </a:spcAft>
              <a:defRPr sz="1400"/>
            </a:pPr>
            <a:r>
              <a:t>  • harmonypy: Batch correction</a:t>
            </a:r>
          </a:p>
          <a:p>
            <a:pPr>
              <a:spcAft>
                <a:spcPts val="1000"/>
              </a:spcAft>
              <a:defRPr sz="1400"/>
            </a:pPr>
            <a:r>
              <a:t>  • louvain: Community detection clustering</a:t>
            </a:r>
          </a:p>
          <a:p>
            <a:pPr>
              <a:spcAft>
                <a:spcPts val="1000"/>
              </a:spcAft>
              <a:defRPr sz="1400"/>
            </a:pPr>
            <a:r>
              <a:t>  • numpy/pandas: Data manipulation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Visualization:</a:t>
            </a:r>
          </a:p>
          <a:p>
            <a:pPr>
              <a:spcAft>
                <a:spcPts val="1000"/>
              </a:spcAft>
              <a:defRPr sz="1400"/>
            </a:pPr>
            <a:r>
              <a:t>  • matplotlib: Base plotting</a:t>
            </a:r>
          </a:p>
          <a:p>
            <a:pPr>
              <a:spcAft>
                <a:spcPts val="1000"/>
              </a:spcAft>
              <a:defRPr sz="1400"/>
            </a:pPr>
            <a:r>
              <a:t>  • seaborn: Statistical graphics</a:t>
            </a:r>
          </a:p>
          <a:p>
            <a:pPr>
              <a:spcAft>
                <a:spcPts val="1000"/>
              </a:spcAft>
              <a:defRPr sz="1400"/>
            </a:pPr>
            <a:r>
              <a:t>  • adjustText: Non-overlapping labels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Environment:</a:t>
            </a:r>
          </a:p>
          <a:p>
            <a:pPr>
              <a:spcAft>
                <a:spcPts val="1000"/>
              </a:spcAft>
              <a:defRPr sz="1400"/>
            </a:pPr>
            <a:r>
              <a:t>  • Python 3.10</a:t>
            </a:r>
          </a:p>
          <a:p>
            <a:pPr>
              <a:spcAft>
                <a:spcPts val="1000"/>
              </a:spcAft>
              <a:defRPr sz="1400"/>
            </a:pPr>
            <a:r>
              <a:t>  • conda environment: scRNAseq</a:t>
            </a:r>
          </a:p>
          <a:p>
            <a:pPr>
              <a:spcAft>
                <a:spcPts val="1000"/>
              </a:spcAft>
              <a:defRPr sz="1400"/>
            </a:pPr>
            <a:r>
              <a:t>  • Linux (CentOS 8)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Output Generation:</a:t>
            </a:r>
          </a:p>
          <a:p>
            <a:pPr>
              <a:spcAft>
                <a:spcPts val="1000"/>
              </a:spcAft>
              <a:defRPr sz="1400"/>
            </a:pPr>
            <a:r>
              <a:t>  • python-pptx: PowerPoint generation</a:t>
            </a:r>
          </a:p>
          <a:p>
            <a:pPr>
              <a:spcAft>
                <a:spcPts val="1000"/>
              </a:spcAft>
              <a:defRPr sz="1400"/>
            </a:pPr>
            <a:r>
              <a:t>  • markdown: Report generation</a:t>
            </a:r>
          </a:p>
          <a:p>
            <a:pPr>
              <a:spcAft>
                <a:spcPts val="1000"/>
              </a:spcAft>
              <a:defRPr sz="1400"/>
            </a:pPr>
          </a:p>
          <a:p>
            <a:pPr>
              <a:spcAft>
                <a:spcPts val="1000"/>
              </a:spcAft>
              <a:defRPr sz="1400"/>
            </a:pPr>
            <a:r>
              <a:t>Computational Resources:</a:t>
            </a:r>
          </a:p>
          <a:p>
            <a:pPr>
              <a:spcAft>
                <a:spcPts val="1000"/>
              </a:spcAft>
              <a:defRPr sz="1400"/>
            </a:pPr>
            <a:r>
              <a:t>  • Memory efficient: backed mode for large files</a:t>
            </a:r>
          </a:p>
          <a:p>
            <a:pPr>
              <a:spcAft>
                <a:spcPts val="1000"/>
              </a:spcAft>
              <a:defRPr sz="1400"/>
            </a:pPr>
            <a:r>
              <a:t>  • Handles 400K+ cells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Automated 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1. Number of PCs Selection:</a:t>
            </a:r>
          </a:p>
          <a:p>
            <a:pPr>
              <a:spcAft>
                <a:spcPts val="1000"/>
              </a:spcAft>
              <a:defRPr sz="1300"/>
            </a:pPr>
            <a:r>
              <a:t>   • Computed 50 PCs</a:t>
            </a:r>
          </a:p>
          <a:p>
            <a:pPr>
              <a:spcAft>
                <a:spcPts val="1000"/>
              </a:spcAft>
              <a:defRPr sz="1300"/>
            </a:pPr>
            <a:r>
              <a:t>   • Analyzed variance explained: 30, 40, 50 PCs</a:t>
            </a:r>
          </a:p>
          <a:p>
            <a:pPr>
              <a:spcAft>
                <a:spcPts val="1000"/>
              </a:spcAft>
              <a:defRPr sz="1300"/>
            </a:pPr>
            <a:r>
              <a:t>   • Decision: 40 PCs (optimal balance: 17.9% variance)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2. Clustering Resolution:</a:t>
            </a:r>
          </a:p>
          <a:p>
            <a:pPr>
              <a:spcAft>
                <a:spcPts val="1000"/>
              </a:spcAft>
              <a:defRPr sz="1300"/>
            </a:pPr>
            <a:r>
              <a:t>   • Tested: 0.5, 0.8, 1.0, 1.2</a:t>
            </a:r>
          </a:p>
          <a:p>
            <a:pPr>
              <a:spcAft>
                <a:spcPts val="1000"/>
              </a:spcAft>
              <a:defRPr sz="1300"/>
            </a:pPr>
            <a:r>
              <a:t>   • Results: 19, 23, 31, 33 clusters</a:t>
            </a:r>
          </a:p>
          <a:p>
            <a:pPr>
              <a:spcAft>
                <a:spcPts val="1000"/>
              </a:spcAft>
              <a:defRPr sz="1300"/>
            </a:pPr>
            <a:r>
              <a:t>   • Decision: Resolution 1.0 → 31 clusters (best granularity)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3. Batch Correction Strategy:</a:t>
            </a:r>
          </a:p>
          <a:p>
            <a:pPr>
              <a:spcAft>
                <a:spcPts val="1000"/>
              </a:spcAft>
              <a:defRPr sz="1300"/>
            </a:pPr>
            <a:r>
              <a:t>   • Assessed batch effects in original data</a:t>
            </a:r>
          </a:p>
          <a:p>
            <a:pPr>
              <a:spcAft>
                <a:spcPts val="1000"/>
              </a:spcAft>
              <a:defRPr sz="1300"/>
            </a:pPr>
            <a:r>
              <a:t>   • Selected Harmony (vs. other methods)</a:t>
            </a:r>
          </a:p>
          <a:p>
            <a:pPr>
              <a:spcAft>
                <a:spcPts val="1000"/>
              </a:spcAft>
              <a:defRPr sz="1300"/>
            </a:pPr>
            <a:r>
              <a:t>   • Batch variable: orig.ident (73 samples)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4. Annotation Granularity:</a:t>
            </a:r>
          </a:p>
          <a:p>
            <a:pPr>
              <a:spcAft>
                <a:spcPts val="1000"/>
              </a:spcAft>
              <a:defRPr sz="1300"/>
            </a:pPr>
            <a:r>
              <a:t>   • Two-level hierarchy</a:t>
            </a:r>
          </a:p>
          <a:p>
            <a:pPr>
              <a:spcAft>
                <a:spcPts val="1000"/>
              </a:spcAft>
              <a:defRPr sz="1300"/>
            </a:pPr>
            <a:r>
              <a:t>   • Major types: 11 broad categories</a:t>
            </a:r>
          </a:p>
          <a:p>
            <a:pPr>
              <a:spcAft>
                <a:spcPts val="1000"/>
              </a:spcAft>
              <a:defRPr sz="1300"/>
            </a:pPr>
            <a:r>
              <a:t>   • Refined types: 31 detailed subtypes</a:t>
            </a:r>
          </a:p>
          <a:p>
            <a:pPr>
              <a:spcAft>
                <a:spcPts val="1000"/>
              </a:spcAft>
              <a:defRPr sz="1300"/>
            </a:pPr>
            <a:r>
              <a:t>   • Based on marker gene specificity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Quality Assessment Throughout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6400800" cy="548640"/>
          </a:xfrm>
          <a:prstGeom prst="roundRect">
            <a:avLst/>
          </a:prstGeom>
          <a:solidFill>
            <a:srgbClr val="C8E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✓ Input QC: High-quality cells retained (3.3% MT ratio)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51760"/>
            <a:ext cx="6400800" cy="548640"/>
          </a:xfrm>
          <a:prstGeom prst="roundRect">
            <a:avLst/>
          </a:prstGeom>
          <a:solidFill>
            <a:srgbClr val="C8E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✓ Normalization: Successful total count &amp; log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6400800" cy="548640"/>
          </a:xfrm>
          <a:prstGeom prst="roundRect">
            <a:avLst/>
          </a:prstGeom>
          <a:solidFill>
            <a:srgbClr val="C8E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✓ Integration: Harmony converged, batch effects removed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6400800" cy="548640"/>
          </a:xfrm>
          <a:prstGeom prst="roundRect">
            <a:avLst/>
          </a:prstGeom>
          <a:solidFill>
            <a:srgbClr val="C8E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✓ Clustering: Well-separated clusters in UMAP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6400800" cy="548640"/>
          </a:xfrm>
          <a:prstGeom prst="roundRect">
            <a:avLst/>
          </a:prstGeom>
          <a:solidFill>
            <a:srgbClr val="C8E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✓ Annotation: Clear marker signatures, biologically consistent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Final Cell Type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Macrophages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828800"/>
            <a:ext cx="4572000" cy="365760"/>
          </a:xfrm>
          <a:prstGeom prst="roundRect">
            <a:avLst/>
          </a:prstGeom>
          <a:solidFill>
            <a:srgbClr val="96C8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31.27%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B cells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77440"/>
            <a:ext cx="3905280" cy="365760"/>
          </a:xfrm>
          <a:prstGeom prst="roundRect">
            <a:avLst/>
          </a:prstGeom>
          <a:solidFill>
            <a:srgbClr val="64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26.71%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T cells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926080"/>
            <a:ext cx="1943136" cy="36576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13.29%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Neutrophils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474720"/>
            <a:ext cx="1495732" cy="365760"/>
          </a:xfrm>
          <a:prstGeom prst="roundRect">
            <a:avLst/>
          </a:prstGeom>
          <a:solidFill>
            <a:srgbClr val="FF969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10.23%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Monocytes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023360"/>
            <a:ext cx="1138979" cy="365760"/>
          </a:xfrm>
          <a:prstGeom prst="roundRect">
            <a:avLst/>
          </a:prstGeom>
          <a:solidFill>
            <a:srgbClr val="96FF9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7.79%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Plasma cells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4572000"/>
            <a:ext cx="755907" cy="365760"/>
          </a:xfrm>
          <a:prstGeom prst="roundRect">
            <a:avLst/>
          </a:prstGeom>
          <a:solidFill>
            <a:srgbClr val="FFC89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5.17%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NK cells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5120640"/>
            <a:ext cx="318738" cy="365760"/>
          </a:xfrm>
          <a:prstGeom prst="roundRect">
            <a:avLst/>
          </a:prstGeom>
          <a:solidFill>
            <a:srgbClr val="C896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2.18%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Other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669280"/>
            <a:ext cx="491267" cy="365760"/>
          </a:xfrm>
          <a:prstGeom prst="round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3.36%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Total: 461,102 cells across 31 clusters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Pipeline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Processing Time Breakdown:</a:t>
            </a:r>
          </a:p>
          <a:p>
            <a:pPr>
              <a:spcAft>
                <a:spcPts val="1000"/>
              </a:spcAft>
              <a:defRPr sz="1300"/>
            </a:pPr>
            <a:r>
              <a:t>  • Data loading: ~2 minutes</a:t>
            </a:r>
          </a:p>
          <a:p>
            <a:pPr>
              <a:spcAft>
                <a:spcPts val="1000"/>
              </a:spcAft>
              <a:defRPr sz="1300"/>
            </a:pPr>
            <a:r>
              <a:t>  • QC and preprocessing: ~5 minutes</a:t>
            </a:r>
          </a:p>
          <a:p>
            <a:pPr>
              <a:spcAft>
                <a:spcPts val="1000"/>
              </a:spcAft>
              <a:defRPr sz="1300"/>
            </a:pPr>
            <a:r>
              <a:t>  • PCA computation: ~1 minute</a:t>
            </a:r>
          </a:p>
          <a:p>
            <a:pPr>
              <a:spcAft>
                <a:spcPts val="1000"/>
              </a:spcAft>
              <a:defRPr sz="1300"/>
            </a:pPr>
            <a:r>
              <a:t>  • UMAP (before integration): ~7 minutes</a:t>
            </a:r>
          </a:p>
          <a:p>
            <a:pPr>
              <a:spcAft>
                <a:spcPts val="1000"/>
              </a:spcAft>
              <a:defRPr sz="1300"/>
            </a:pPr>
            <a:r>
              <a:t>  • Harmony integration: ~30 minutes (11 iterations)</a:t>
            </a:r>
          </a:p>
          <a:p>
            <a:pPr>
              <a:spcAft>
                <a:spcPts val="1000"/>
              </a:spcAft>
              <a:defRPr sz="1300"/>
            </a:pPr>
            <a:r>
              <a:t>  • Clustering (all resolutions): ~9 minutes</a:t>
            </a:r>
          </a:p>
          <a:p>
            <a:pPr>
              <a:spcAft>
                <a:spcPts val="1000"/>
              </a:spcAft>
              <a:defRPr sz="1300"/>
            </a:pPr>
            <a:r>
              <a:t>  • UMAP (after integration): ~8 minutes</a:t>
            </a:r>
          </a:p>
          <a:p>
            <a:pPr>
              <a:spcAft>
                <a:spcPts val="1000"/>
              </a:spcAft>
              <a:defRPr sz="1300"/>
            </a:pPr>
            <a:r>
              <a:t>  • Marker gene identification: ~25 minutes</a:t>
            </a:r>
          </a:p>
          <a:p>
            <a:pPr>
              <a:spcAft>
                <a:spcPts val="1000"/>
              </a:spcAft>
              <a:defRPr sz="1300"/>
            </a:pPr>
            <a:r>
              <a:t>  • Annotation and visualization: ~5 minutes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Total Runtime: ~90 minutes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Memory Usage:</a:t>
            </a:r>
          </a:p>
          <a:p>
            <a:pPr>
              <a:spcAft>
                <a:spcPts val="1000"/>
              </a:spcAft>
              <a:defRPr sz="1300"/>
            </a:pPr>
            <a:r>
              <a:t>  • Peak memory: ~100 GB (backed mode)</a:t>
            </a:r>
          </a:p>
          <a:p>
            <a:pPr>
              <a:spcAft>
                <a:spcPts val="1000"/>
              </a:spcAft>
              <a:defRPr sz="1300"/>
            </a:pPr>
            <a:r>
              <a:t>  • Efficient handling of large datasets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Output Size:</a:t>
            </a:r>
          </a:p>
          <a:p>
            <a:pPr>
              <a:spcAft>
                <a:spcPts val="1000"/>
              </a:spcAft>
              <a:defRPr sz="1300"/>
            </a:pPr>
            <a:r>
              <a:t>  • Total output: ~145 GB</a:t>
            </a:r>
          </a:p>
          <a:p>
            <a:pPr>
              <a:spcAft>
                <a:spcPts val="1000"/>
              </a:spcAft>
              <a:defRPr sz="1300"/>
            </a:pPr>
            <a:r>
              <a:t>  • Figures: ~30 MB (15 high-res PNG files)</a:t>
            </a:r>
          </a:p>
          <a:p>
            <a:pPr>
              <a:spcAft>
                <a:spcPts val="1000"/>
              </a:spcAft>
              <a:defRPr sz="1300"/>
            </a:pPr>
            <a:r>
              <a:t>  • Data files: ~145 GB (H5AD formats)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Agent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✓ Fully Automated:</a:t>
            </a:r>
          </a:p>
          <a:p>
            <a:pPr>
              <a:spcAft>
                <a:spcPts val="1000"/>
              </a:spcAft>
              <a:defRPr sz="1300"/>
            </a:pPr>
            <a:r>
              <a:t>  • End-to-end pipeline from raw data to annotated results</a:t>
            </a:r>
          </a:p>
          <a:p>
            <a:pPr>
              <a:spcAft>
                <a:spcPts val="1000"/>
              </a:spcAft>
              <a:defRPr sz="1300"/>
            </a:pPr>
            <a:r>
              <a:t>  • Minimal user intervention required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✓ Scalable:</a:t>
            </a:r>
          </a:p>
          <a:p>
            <a:pPr>
              <a:spcAft>
                <a:spcPts val="1000"/>
              </a:spcAft>
              <a:defRPr sz="1300"/>
            </a:pPr>
            <a:r>
              <a:t>  • Handles large datasets (400K+ cells)</a:t>
            </a:r>
          </a:p>
          <a:p>
            <a:pPr>
              <a:spcAft>
                <a:spcPts val="1000"/>
              </a:spcAft>
              <a:defRPr sz="1300"/>
            </a:pPr>
            <a:r>
              <a:t>  • Memory-efficient backed mode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✓ Robust Integration:</a:t>
            </a:r>
          </a:p>
          <a:p>
            <a:pPr>
              <a:spcAft>
                <a:spcPts val="1000"/>
              </a:spcAft>
              <a:defRPr sz="1300"/>
            </a:pPr>
            <a:r>
              <a:t>  • Harmony effectively removes batch effects</a:t>
            </a:r>
          </a:p>
          <a:p>
            <a:pPr>
              <a:spcAft>
                <a:spcPts val="1000"/>
              </a:spcAft>
              <a:defRPr sz="1300"/>
            </a:pPr>
            <a:r>
              <a:t>  • Tested multiple parameters automatically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✓ Comprehensive Output:</a:t>
            </a:r>
          </a:p>
          <a:p>
            <a:pPr>
              <a:spcAft>
                <a:spcPts val="1000"/>
              </a:spcAft>
              <a:defRPr sz="1300"/>
            </a:pPr>
            <a:r>
              <a:t>  • 15 visualizations for quality assessment</a:t>
            </a:r>
          </a:p>
          <a:p>
            <a:pPr>
              <a:spcAft>
                <a:spcPts val="1000"/>
              </a:spcAft>
              <a:defRPr sz="1300"/>
            </a:pPr>
            <a:r>
              <a:t>  • Multiple data formats for downstream analysis</a:t>
            </a:r>
          </a:p>
          <a:p>
            <a:pPr>
              <a:spcAft>
                <a:spcPts val="1000"/>
              </a:spcAft>
              <a:defRPr sz="1300"/>
            </a:pPr>
            <a:r>
              <a:t>  • Publication-ready reports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✓ Reproducible:</a:t>
            </a:r>
          </a:p>
          <a:p>
            <a:pPr>
              <a:spcAft>
                <a:spcPts val="1000"/>
              </a:spcAft>
              <a:defRPr sz="1300"/>
            </a:pPr>
            <a:r>
              <a:t>  • Fixed random seeds</a:t>
            </a:r>
          </a:p>
          <a:p>
            <a:pPr>
              <a:spcAft>
                <a:spcPts val="1000"/>
              </a:spcAft>
              <a:defRPr sz="1300"/>
            </a:pPr>
            <a:r>
              <a:t>  • All parameters documented</a:t>
            </a:r>
          </a:p>
          <a:p>
            <a:pPr>
              <a:spcAft>
                <a:spcPts val="1000"/>
              </a:spcAft>
              <a:defRPr sz="1300"/>
            </a:pPr>
            <a:r>
              <a:t>  • Version-controlled analysis scripts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✓ Biological Validation:</a:t>
            </a:r>
          </a:p>
          <a:p>
            <a:pPr>
              <a:spcAft>
                <a:spcPts val="1000"/>
              </a:spcAft>
              <a:defRPr sz="1300"/>
            </a:pPr>
            <a:r>
              <a:t>  • Results consistent with spleen immunology</a:t>
            </a:r>
          </a:p>
          <a:p>
            <a:pPr>
              <a:spcAft>
                <a:spcPts val="1000"/>
              </a:spcAft>
              <a:defRPr sz="1300"/>
            </a:pPr>
            <a:r>
              <a:t>  • Clear marker gene signatures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Applicable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/>
            </a:pPr>
            <a:r>
              <a:t>This agent is suitable for: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1. Large-scale scRNA-seq Studies:</a:t>
            </a:r>
          </a:p>
          <a:p>
            <a:pPr>
              <a:spcAft>
                <a:spcPts val="1000"/>
              </a:spcAft>
              <a:defRPr sz="1300"/>
            </a:pPr>
            <a:r>
              <a:t>   • Multi-sample experiments</a:t>
            </a:r>
          </a:p>
          <a:p>
            <a:pPr>
              <a:spcAft>
                <a:spcPts val="1000"/>
              </a:spcAft>
              <a:defRPr sz="1300"/>
            </a:pPr>
            <a:r>
              <a:t>   • Batch-corrected integration needed</a:t>
            </a:r>
          </a:p>
          <a:p>
            <a:pPr>
              <a:spcAft>
                <a:spcPts val="1000"/>
              </a:spcAft>
              <a:defRPr sz="1300"/>
            </a:pPr>
            <a:r>
              <a:t>   • Time-series or treatment comparisons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2. Tissue Immunology:</a:t>
            </a:r>
          </a:p>
          <a:p>
            <a:pPr>
              <a:spcAft>
                <a:spcPts val="1000"/>
              </a:spcAft>
              <a:defRPr sz="1300"/>
            </a:pPr>
            <a:r>
              <a:t>   • Spleen, lymph nodes, PBMC</a:t>
            </a:r>
          </a:p>
          <a:p>
            <a:pPr>
              <a:spcAft>
                <a:spcPts val="1000"/>
              </a:spcAft>
              <a:defRPr sz="1300"/>
            </a:pPr>
            <a:r>
              <a:t>   • Tumor microenvironment</a:t>
            </a:r>
          </a:p>
          <a:p>
            <a:pPr>
              <a:spcAft>
                <a:spcPts val="1000"/>
              </a:spcAft>
              <a:defRPr sz="1300"/>
            </a:pPr>
            <a:r>
              <a:t>   • Inflamed tissues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3. Developmental Biology:</a:t>
            </a:r>
          </a:p>
          <a:p>
            <a:pPr>
              <a:spcAft>
                <a:spcPts val="1000"/>
              </a:spcAft>
              <a:defRPr sz="1300"/>
            </a:pPr>
            <a:r>
              <a:t>   • Cell differentiation trajectories</a:t>
            </a:r>
          </a:p>
          <a:p>
            <a:pPr>
              <a:spcAft>
                <a:spcPts val="1000"/>
              </a:spcAft>
              <a:defRPr sz="1300"/>
            </a:pPr>
            <a:r>
              <a:t>   • Organogenesis studies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4. Disease Research:</a:t>
            </a:r>
          </a:p>
          <a:p>
            <a:pPr>
              <a:spcAft>
                <a:spcPts val="1000"/>
              </a:spcAft>
              <a:defRPr sz="1300"/>
            </a:pPr>
            <a:r>
              <a:t>   • Compare healthy vs. disease states</a:t>
            </a:r>
          </a:p>
          <a:p>
            <a:pPr>
              <a:spcAft>
                <a:spcPts val="1000"/>
              </a:spcAft>
              <a:defRPr sz="1300"/>
            </a:pPr>
            <a:r>
              <a:t>   • Drug response profiling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5. Atlas Projects:</a:t>
            </a:r>
          </a:p>
          <a:p>
            <a:pPr>
              <a:spcAft>
                <a:spcPts val="1000"/>
              </a:spcAft>
              <a:defRPr sz="1300"/>
            </a:pPr>
            <a:r>
              <a:t>   • Cell type cataloging</a:t>
            </a:r>
          </a:p>
          <a:p>
            <a:pPr>
              <a:spcAft>
                <a:spcPts val="1000"/>
              </a:spcAft>
              <a:defRPr sz="1300"/>
            </a:pPr>
            <a:r>
              <a:t>   • Reference map generation</a:t>
            </a:r>
          </a:p>
          <a:p>
            <a:pPr>
              <a:spcAft>
                <a:spcPts val="1000"/>
              </a:spcAft>
              <a:defRPr sz="1300"/>
            </a:pPr>
          </a:p>
          <a:p>
            <a:pPr>
              <a:spcAft>
                <a:spcPts val="1000"/>
              </a:spcAft>
              <a:defRPr sz="1300"/>
            </a:pPr>
            <a:r>
              <a:t>Adaptable to different tissues and experimental designs!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Potential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/>
            </a:pPr>
            <a:r>
              <a:t>Planned Improvements: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1. Additional Integration Methods:</a:t>
            </a:r>
          </a:p>
          <a:p>
            <a:pPr>
              <a:spcAft>
                <a:spcPts val="1000"/>
              </a:spcAft>
              <a:defRPr sz="1200"/>
            </a:pPr>
            <a:r>
              <a:t>   • Seurat CCA/RPCA</a:t>
            </a:r>
          </a:p>
          <a:p>
            <a:pPr>
              <a:spcAft>
                <a:spcPts val="1000"/>
              </a:spcAft>
              <a:defRPr sz="1200"/>
            </a:pPr>
            <a:r>
              <a:t>   • scVI (deep learning)</a:t>
            </a:r>
          </a:p>
          <a:p>
            <a:pPr>
              <a:spcAft>
                <a:spcPts val="1000"/>
              </a:spcAft>
              <a:defRPr sz="1200"/>
            </a:pPr>
            <a:r>
              <a:t>   • Comparison framework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2. Advanced Annotation:</a:t>
            </a:r>
          </a:p>
          <a:p>
            <a:pPr>
              <a:spcAft>
                <a:spcPts val="1000"/>
              </a:spcAft>
              <a:defRPr sz="1200"/>
            </a:pPr>
            <a:r>
              <a:t>   • Automated cell type prediction with ML models</a:t>
            </a:r>
          </a:p>
          <a:p>
            <a:pPr>
              <a:spcAft>
                <a:spcPts val="1000"/>
              </a:spcAft>
              <a:defRPr sz="1200"/>
            </a:pPr>
            <a:r>
              <a:t>   • Reference-based annotation (Azimuth, CellTypist)</a:t>
            </a:r>
          </a:p>
          <a:p>
            <a:pPr>
              <a:spcAft>
                <a:spcPts val="1000"/>
              </a:spcAft>
              <a:defRPr sz="1200"/>
            </a:pPr>
            <a:r>
              <a:t>   • Gene ontology enrichment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3. Trajectory Analysis:</a:t>
            </a:r>
          </a:p>
          <a:p>
            <a:pPr>
              <a:spcAft>
                <a:spcPts val="1000"/>
              </a:spcAft>
              <a:defRPr sz="1200"/>
            </a:pPr>
            <a:r>
              <a:t>   • Pseudotime inference</a:t>
            </a:r>
          </a:p>
          <a:p>
            <a:pPr>
              <a:spcAft>
                <a:spcPts val="1000"/>
              </a:spcAft>
              <a:defRPr sz="1200"/>
            </a:pPr>
            <a:r>
              <a:t>   • RNA velocity</a:t>
            </a:r>
          </a:p>
          <a:p>
            <a:pPr>
              <a:spcAft>
                <a:spcPts val="1000"/>
              </a:spcAft>
              <a:defRPr sz="1200"/>
            </a:pPr>
            <a:r>
              <a:t>   • Lineage tracing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4. Differential Analysis:</a:t>
            </a:r>
          </a:p>
          <a:p>
            <a:pPr>
              <a:spcAft>
                <a:spcPts val="1000"/>
              </a:spcAft>
              <a:defRPr sz="1200"/>
            </a:pPr>
            <a:r>
              <a:t>   • DE between conditions</a:t>
            </a:r>
          </a:p>
          <a:p>
            <a:pPr>
              <a:spcAft>
                <a:spcPts val="1000"/>
              </a:spcAft>
              <a:defRPr sz="1200"/>
            </a:pPr>
            <a:r>
              <a:t>   • GSEA pathway analysis</a:t>
            </a:r>
          </a:p>
          <a:p>
            <a:pPr>
              <a:spcAft>
                <a:spcPts val="1000"/>
              </a:spcAft>
              <a:defRPr sz="1200"/>
            </a:pPr>
            <a:r>
              <a:t>   • Cell-cell communication (CellChat, NicheNet)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5. Interactive Visualization:</a:t>
            </a:r>
          </a:p>
          <a:p>
            <a:pPr>
              <a:spcAft>
                <a:spcPts val="1000"/>
              </a:spcAft>
              <a:defRPr sz="1200"/>
            </a:pPr>
            <a:r>
              <a:t>   • Cellxgene integration</a:t>
            </a:r>
          </a:p>
          <a:p>
            <a:pPr>
              <a:spcAft>
                <a:spcPts val="1000"/>
              </a:spcAft>
              <a:defRPr sz="1200"/>
            </a:pPr>
            <a:r>
              <a:t>   • Web-based exploration</a:t>
            </a:r>
          </a:p>
          <a:p>
            <a:pPr>
              <a:spcAft>
                <a:spcPts val="1000"/>
              </a:spcAft>
              <a:defRPr sz="1200"/>
            </a:pPr>
          </a:p>
          <a:p>
            <a:pPr>
              <a:spcAft>
                <a:spcPts val="1000"/>
              </a:spcAft>
              <a:defRPr sz="1200"/>
            </a:pPr>
            <a:r>
              <a:t>6. Multi-omics:</a:t>
            </a:r>
          </a:p>
          <a:p>
            <a:pPr>
              <a:spcAft>
                <a:spcPts val="1000"/>
              </a:spcAft>
              <a:defRPr sz="1200"/>
            </a:pPr>
            <a:r>
              <a:t>   • CITE-seq (protein + RNA)</a:t>
            </a:r>
          </a:p>
          <a:p>
            <a:pPr>
              <a:spcAft>
                <a:spcPts val="1000"/>
              </a:spcAft>
              <a:defRPr sz="1200"/>
            </a:pPr>
            <a:r>
              <a:t>   • ATAC-seq integration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Summary: scrna_agent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5486400" cy="640080"/>
          </a:xfrm>
          <a:prstGeom prst="roundRect">
            <a:avLst/>
          </a:prstGeom>
          <a:solidFill>
            <a:srgbClr val="64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Input: H5AD → QC → Normalize → HVG Selection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0" y="228600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651760"/>
            <a:ext cx="54864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PCA → Harmony Integration → Neighbors → Clustering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329184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3657600"/>
            <a:ext cx="5486400" cy="640080"/>
          </a:xfrm>
          <a:prstGeom prst="roundRect">
            <a:avLst/>
          </a:prstGeom>
          <a:solidFill>
            <a:srgbClr val="C896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UMAP → Marker Genes → Cell Type Annotation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4297680"/>
            <a:ext cx="0" cy="36576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4663440"/>
            <a:ext cx="5486400" cy="640080"/>
          </a:xfrm>
          <a:prstGeom prst="roundRect">
            <a:avLst/>
          </a:prstGeom>
          <a:solidFill>
            <a:srgbClr val="FFB464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Output: Figures + Data +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0000"/>
                </a:solidFill>
              </a:defRPr>
            </a:pPr>
            <a:r>
              <a:t>Result: 461K cells → 31 clusters → 11 major types + 31 subtypes</a:t>
            </a:r>
          </a:p>
          <a:p>
            <a:r>
              <a:t>Time: ~90 min  |  Output: 24 files  |  Ready for publication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0000"/>
                </a:solidFill>
              </a:defRPr>
            </a:pPr>
            <a:r>
              <a:t>scrna_agent</a:t>
            </a:r>
          </a:p>
          <a:p>
            <a:r>
              <a:t>Automated scRNA-seq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66CC"/>
                </a:solidFill>
              </a:defRPr>
            </a:pPr>
            <a:r>
              <a:t>Efficient • Scalable • Reproducible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All code, data, and visualizations available at:</a:t>
            </a:r>
          </a:p>
          <a:p>
            <a:r>
              <a:t>/home/kwy7605/data_61/Agent_test/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