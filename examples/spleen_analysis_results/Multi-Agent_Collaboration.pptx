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Collaboration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scRNA-seq Analysis Through Coordinated Agent Teamwork</a:t>
            </a:r>
          </a:p>
          <a:p/>
          <a:p>
            <a:r>
              <a:t>A Case Study: Spleen Dataset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Multi-Agent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743200" cy="64008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Main Orchestrator</a:t>
            </a:r>
          </a:p>
          <a:p>
            <a:r>
              <a:t>Claude Sonnet 4.5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828800" cy="54864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📊 QC Agent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828800" y="1737360"/>
            <a:ext cx="2286000" cy="54864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474720"/>
            <a:ext cx="1828800" cy="548640"/>
          </a:xfrm>
          <a:prstGeom prst="roundRect">
            <a:avLst/>
          </a:prstGeom>
          <a:solidFill>
            <a:srgbClr val="96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⚙️ Processing</a:t>
            </a:r>
          </a:p>
          <a:p>
            <a:r>
              <a:t>Agent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828800" y="1737360"/>
            <a:ext cx="2286000" cy="173736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4663440"/>
            <a:ext cx="1828800" cy="54864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🔗 Integration</a:t>
            </a:r>
          </a:p>
          <a:p>
            <a: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828800" y="1737360"/>
            <a:ext cx="2286000" cy="292608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5303520"/>
            <a:ext cx="1828800" cy="54864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🎯 Clustering</a:t>
            </a:r>
          </a:p>
          <a:p>
            <a:r>
              <a:t>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1737360"/>
            <a:ext cx="0" cy="356616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4663440"/>
            <a:ext cx="1828800" cy="54864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🏷️ Annotation</a:t>
            </a:r>
          </a:p>
          <a:p>
            <a:r>
              <a:t>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1737360"/>
            <a:ext cx="2286000" cy="292608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3474720"/>
            <a:ext cx="1828800" cy="548640"/>
          </a:xfrm>
          <a:prstGeom prst="roundRect">
            <a:avLst/>
          </a:prstGeom>
          <a:solidFill>
            <a:srgbClr val="96C8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📈 Visualization</a:t>
            </a:r>
          </a:p>
          <a:p>
            <a: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1737360"/>
            <a:ext cx="2286000" cy="173736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0" y="2286000"/>
            <a:ext cx="1828800" cy="548640"/>
          </a:xfrm>
          <a:prstGeom prst="roundRect">
            <a:avLst/>
          </a:prstGeom>
          <a:solidFill>
            <a:srgbClr val="C8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📄 Report</a:t>
            </a:r>
          </a:p>
          <a:p>
            <a:r>
              <a:t>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1737360"/>
            <a:ext cx="2286000" cy="548640"/>
          </a:xfrm>
          <a:prstGeom prst="line">
            <a:avLst/>
          </a:prstGeom>
          <a:ln w="25400">
            <a:solidFill>
              <a:srgbClr val="33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00400" y="6035040"/>
            <a:ext cx="2743200" cy="45720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📝 Task Manager (TodoWrite)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822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Coordination 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Roles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🎯 Main Orchestrator:</a:t>
            </a:r>
          </a:p>
          <a:p>
            <a:pPr>
              <a:spcAft>
                <a:spcPts val="1000"/>
              </a:spcAft>
              <a:defRPr sz="1400"/>
            </a:pPr>
            <a:r>
              <a:t>  • Coordinates all specialized agents</a:t>
            </a:r>
          </a:p>
          <a:p>
            <a:pPr>
              <a:spcAft>
                <a:spcPts val="1000"/>
              </a:spcAft>
              <a:defRPr sz="1400"/>
            </a:pPr>
            <a:r>
              <a:t>  • Makes strategic decisions (nPCs, resolution)</a:t>
            </a:r>
          </a:p>
          <a:p>
            <a:pPr>
              <a:spcAft>
                <a:spcPts val="1000"/>
              </a:spcAft>
              <a:defRPr sz="1400"/>
            </a:pPr>
            <a:r>
              <a:t>  • Monitors progress and quality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📊 QC Agent: Data loading, quality control, doublet removal</a:t>
            </a:r>
          </a:p>
          <a:p>
            <a:pPr>
              <a:spcAft>
                <a:spcPts val="1000"/>
              </a:spcAft>
              <a:defRPr sz="1400"/>
            </a:pPr>
            <a:r>
              <a:t>⚙️ Processing Agent: Normalization, scaling, HVG selection</a:t>
            </a:r>
          </a:p>
          <a:p>
            <a:pPr>
              <a:spcAft>
                <a:spcPts val="1000"/>
              </a:spcAft>
              <a:defRPr sz="1400"/>
            </a:pPr>
            <a:r>
              <a:t>🔗 Integration Agent: Harmony batch correction, PCA</a:t>
            </a:r>
          </a:p>
          <a:p>
            <a:pPr>
              <a:spcAft>
                <a:spcPts val="1000"/>
              </a:spcAft>
              <a:defRPr sz="1400"/>
            </a:pPr>
            <a:r>
              <a:t>🎯 Clustering Agent: Neighbor graph, Louvain clustering, UMAP</a:t>
            </a:r>
          </a:p>
          <a:p>
            <a:pPr>
              <a:spcAft>
                <a:spcPts val="1000"/>
              </a:spcAft>
              <a:defRPr sz="1400"/>
            </a:pPr>
            <a:r>
              <a:t>🏷️ Annotation Agent: Marker identification, cell type assignment</a:t>
            </a:r>
          </a:p>
          <a:p>
            <a:pPr>
              <a:spcAft>
                <a:spcPts val="1000"/>
              </a:spcAft>
              <a:defRPr sz="1400"/>
            </a:pPr>
            <a:r>
              <a:t>📈 Visualization Agent: Generate plots, create labeled UMAPs</a:t>
            </a:r>
          </a:p>
          <a:p>
            <a:pPr>
              <a:spcAft>
                <a:spcPts val="1000"/>
              </a:spcAft>
              <a:defRPr sz="1400"/>
            </a:pPr>
            <a:r>
              <a:t>📄 Report Agent: Compile results, generate presentations</a:t>
            </a:r>
          </a:p>
          <a:p>
            <a:pPr>
              <a:spcAft>
                <a:spcPts val="1000"/>
              </a:spcAft>
              <a:defRPr sz="1400"/>
            </a:pPr>
            <a:r>
              <a:t>📝 Task Manager: Track progress, update status, coordinate timing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Inter-Agent Communication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6699"/>
                </a:solidFill>
              </a:defRPr>
            </a:pPr>
            <a:r>
              <a:t>Pattern 1: Sequential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188720" cy="45720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057400"/>
            <a:ext cx="27432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03120" y="1828800"/>
            <a:ext cx="1188720" cy="457200"/>
          </a:xfrm>
          <a:prstGeom prst="roundRect">
            <a:avLst/>
          </a:prstGeom>
          <a:solidFill>
            <a:srgbClr val="96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Output → Input 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6699"/>
                </a:solidFill>
              </a:defRPr>
            </a:pPr>
            <a:r>
              <a:t>Pattern 2: Parallel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188720" cy="45720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84048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840480"/>
            <a:ext cx="91440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4206240"/>
            <a:ext cx="914400" cy="365760"/>
          </a:xfrm>
          <a:prstGeom prst="roundRect">
            <a:avLst/>
          </a:prstGeom>
          <a:solidFill>
            <a:srgbClr val="96C8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Task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06240"/>
            <a:ext cx="914400" cy="365760"/>
          </a:xfrm>
          <a:prstGeom prst="roundRect">
            <a:avLst/>
          </a:prstGeom>
          <a:solidFill>
            <a:srgbClr val="96C8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Task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Simultaneous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6699"/>
                </a:solidFill>
              </a:defRPr>
            </a:pPr>
            <a:r>
              <a:t>Pattern 3: Feedback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77840"/>
            <a:ext cx="1188720" cy="45720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5806440"/>
            <a:ext cx="27432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03120" y="5577840"/>
            <a:ext cx="1188720" cy="45720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40080" y="6035040"/>
            <a:ext cx="146304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Quality check &amp; iteration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6699"/>
                </a:solidFill>
              </a:defRPr>
            </a:pPr>
            <a:r>
              <a:t>Real Implementation Examples: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Sequential Example:</a:t>
            </a:r>
          </a:p>
          <a:p>
            <a:pPr>
              <a:spcAft>
                <a:spcPts val="1000"/>
              </a:spcAft>
              <a:defRPr sz="1200"/>
            </a:pPr>
            <a:r>
              <a:t>  QC Agent → Processing Agent → Integration Agent</a:t>
            </a:r>
          </a:p>
          <a:p>
            <a:pPr>
              <a:spcAft>
                <a:spcPts val="1000"/>
              </a:spcAft>
              <a:defRPr sz="1200"/>
            </a:pPr>
            <a:r>
              <a:t>  Each agent waits for previous completion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Parallel Example:</a:t>
            </a:r>
          </a:p>
          <a:p>
            <a:pPr>
              <a:spcAft>
                <a:spcPts val="1000"/>
              </a:spcAft>
              <a:defRPr sz="1200"/>
            </a:pPr>
            <a:r>
              <a:t>  Visualization Agent creates multiple UMAPs simultaneously:</a:t>
            </a:r>
          </a:p>
          <a:p>
            <a:pPr>
              <a:spcAft>
                <a:spcPts val="1000"/>
              </a:spcAft>
              <a:defRPr sz="1200"/>
            </a:pPr>
            <a:r>
              <a:t>    • Major cell types UMAP</a:t>
            </a:r>
          </a:p>
          <a:p>
            <a:pPr>
              <a:spcAft>
                <a:spcPts val="1000"/>
              </a:spcAft>
              <a:defRPr sz="1200"/>
            </a:pPr>
            <a:r>
              <a:t>    • Refined cell types UMAP</a:t>
            </a:r>
          </a:p>
          <a:p>
            <a:pPr>
              <a:spcAft>
                <a:spcPts val="1000"/>
              </a:spcAft>
              <a:defRPr sz="1200"/>
            </a:pPr>
            <a:r>
              <a:t>    • Cluster numbers UMAP</a:t>
            </a:r>
          </a:p>
          <a:p>
            <a:pPr>
              <a:spcAft>
                <a:spcPts val="1000"/>
              </a:spcAft>
              <a:defRPr sz="1200"/>
            </a:pPr>
            <a:r>
              <a:t>  All run concurrently via background tasks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Feedback Example:</a:t>
            </a:r>
          </a:p>
          <a:p>
            <a:pPr>
              <a:spcAft>
                <a:spcPts val="1000"/>
              </a:spcAft>
              <a:defRPr sz="1200"/>
            </a:pPr>
            <a:r>
              <a:t>  Clustering Agent tests resolutions (0.5, 0.8, 1.0, 1.2)</a:t>
            </a:r>
          </a:p>
          <a:p>
            <a:pPr>
              <a:spcAft>
                <a:spcPts val="1000"/>
              </a:spcAft>
              <a:defRPr sz="1200"/>
            </a:pPr>
            <a:r>
              <a:t>  Orchestrator evaluates results</a:t>
            </a:r>
          </a:p>
          <a:p>
            <a:pPr>
              <a:spcAft>
                <a:spcPts val="1000"/>
              </a:spcAft>
              <a:defRPr sz="1200"/>
            </a:pPr>
            <a:r>
              <a:t>  Selects optimal resolution (1.0) based on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Task Management &amp; Coordination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3657600" cy="73152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t>📝 Task Manager</a:t>
            </a:r>
          </a:p>
          <a:p>
            <a:r>
              <a:t>(TodoWrite System)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Task States &amp; State Transitions: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1828800" cy="457200"/>
          </a:xfrm>
          <a:prstGeom prst="roundRect">
            <a:avLst/>
          </a:prstGeom>
          <a:solidFill>
            <a:srgbClr val="DCDC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PENDING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52044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3291840"/>
            <a:ext cx="1828800" cy="45720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IN_PROGRESS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352044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0" y="3291840"/>
            <a:ext cx="1828800" cy="457200"/>
          </a:xfrm>
          <a:prstGeom prst="roundRect">
            <a:avLst/>
          </a:prstGeom>
          <a:solidFill>
            <a:srgbClr val="64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Actual Task Progression (from our analysis):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1. Load and examine data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2. Perform QC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3. Run PCA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4. Apply Harmony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5. Perform clustering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6. Generate UMAPs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7. Identify markers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  <a:r>
              <a:t>8. Annotate cell types [PENDING] → [IN_PROGRESS] → [COMPLETED]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✓ Only ONE task in_progress at a time (prevents race conditions)</a:t>
            </a:r>
          </a:p>
          <a:p>
            <a:pPr>
              <a:spcAft>
                <a:spcPts val="1000"/>
              </a:spcAft>
              <a:defRPr sz="1200"/>
            </a:pPr>
            <a:r>
              <a:t>✓ Orchestrator monitors all task states in real-time</a:t>
            </a:r>
          </a:p>
          <a:p>
            <a:pPr>
              <a:spcAft>
                <a:spcPts val="1000"/>
              </a:spcAft>
              <a:defRPr sz="1200"/>
            </a:pPr>
            <a:r>
              <a:t>✓ Automatic progress reporting to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Parallel Execution: 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6699"/>
                </a:solidFill>
              </a:defRPr>
            </a:pPr>
            <a:r>
              <a:t>Background Task System: Running Multiple Agents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Time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486400" cy="457200"/>
          </a:xfrm>
          <a:prstGeom prst="roundRect">
            <a:avLst/>
          </a:prstGeom>
          <a:solidFill>
            <a:srgbClr val="96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Task b5bc6eb: Main Analysis Pipeline (90 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2743200" cy="457200"/>
          </a:xfrm>
          <a:prstGeom prst="roundRect">
            <a:avLst/>
          </a:prstGeom>
          <a:solidFill>
            <a:srgbClr val="FF96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Task b454e18: Annotation v1 (killed)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291840"/>
            <a:ext cx="1828800" cy="457200"/>
          </a:xfrm>
          <a:prstGeom prst="roundRect">
            <a:avLst/>
          </a:prstGeom>
          <a:solidFill>
            <a:srgbClr val="96C8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Task ba62835: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931920"/>
            <a:ext cx="3200400" cy="45720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Task b6a48c8: Optimized Annotation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Background Task Management: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• Task b5bc6eb: Main pipeline (QC → Harmony → Clustering)</a:t>
            </a:r>
          </a:p>
          <a:p>
            <a:pPr>
              <a:spcAft>
                <a:spcPts val="1000"/>
              </a:spcAft>
              <a:defRPr sz="1200"/>
            </a:pPr>
            <a:r>
              <a:t>  - Running in background for 90 minutes</a:t>
            </a:r>
          </a:p>
          <a:p>
            <a:pPr>
              <a:spcAft>
                <a:spcPts val="1000"/>
              </a:spcAft>
              <a:defRPr sz="1200"/>
            </a:pPr>
            <a:r>
              <a:t>  - Orchestrator checks progress periodically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• Task b454e18: Initial annotation attempt</a:t>
            </a:r>
          </a:p>
          <a:p>
            <a:pPr>
              <a:spcAft>
                <a:spcPts val="1000"/>
              </a:spcAft>
              <a:defRPr sz="1200"/>
            </a:pPr>
            <a:r>
              <a:t>  - Started while main pipeline running</a:t>
            </a:r>
          </a:p>
          <a:p>
            <a:pPr>
              <a:spcAft>
                <a:spcPts val="1000"/>
              </a:spcAft>
              <a:defRPr sz="1200"/>
            </a:pPr>
            <a:r>
              <a:t>  - Detected performance issue (memory loading)</a:t>
            </a:r>
          </a:p>
          <a:p>
            <a:pPr>
              <a:spcAft>
                <a:spcPts val="1000"/>
              </a:spcAft>
              <a:defRPr sz="1200"/>
            </a:pPr>
            <a:r>
              <a:t>  - Orchestrator killed and restarted with optimization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• Task b6a48c8: Optimized annotation</a:t>
            </a:r>
          </a:p>
          <a:p>
            <a:pPr>
              <a:spcAft>
                <a:spcPts val="1000"/>
              </a:spcAft>
              <a:defRPr sz="1200"/>
            </a:pPr>
            <a:r>
              <a:t>  - Used backed mode for memory efficiency</a:t>
            </a:r>
          </a:p>
          <a:p>
            <a:pPr>
              <a:spcAft>
                <a:spcPts val="1000"/>
              </a:spcAft>
              <a:defRPr sz="1200"/>
            </a:pPr>
            <a:r>
              <a:t>  - Completed successfully</a:t>
            </a:r>
          </a:p>
          <a:p>
            <a:pPr>
              <a:spcAft>
                <a:spcPts val="1000"/>
              </a:spcAft>
              <a:defRPr sz="1200"/>
            </a:pPr>
            <a:r>
              <a:t>  - Generated all annotation plots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Key Feature: Adaptive strategy - orchestrator detected issue and</a:t>
            </a:r>
          </a:p>
          <a:p>
            <a:pPr>
              <a:spcAft>
                <a:spcPts val="1000"/>
              </a:spcAft>
              <a:defRPr sz="1200"/>
            </a:pPr>
            <a:r>
              <a:t>             adjusted approach without user intervention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Specialization &amp;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6C864"/>
                </a:solidFill>
              </a:defRPr>
            </a:pPr>
            <a:r>
              <a:t>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QC Agent:</a:t>
            </a:r>
          </a:p>
          <a:p>
            <a:pPr>
              <a:spcAft>
                <a:spcPts val="1000"/>
              </a:spcAft>
              <a:defRPr sz="1000"/>
            </a:pPr>
            <a:r>
              <a:t>• Doublet detection</a:t>
            </a:r>
          </a:p>
          <a:p>
            <a:pPr>
              <a:spcAft>
                <a:spcPts val="1000"/>
              </a:spcAft>
              <a:defRPr sz="1000"/>
            </a:pPr>
            <a:r>
              <a:t>• Quality metrics</a:t>
            </a:r>
          </a:p>
          <a:p>
            <a:pPr>
              <a:spcAft>
                <a:spcPts val="1000"/>
              </a:spcAft>
              <a:defRPr sz="1000"/>
            </a:pPr>
            <a:r>
              <a:t>• Cell filtering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Processing Agent:</a:t>
            </a:r>
          </a:p>
          <a:p>
            <a:pPr>
              <a:spcAft>
                <a:spcPts val="1000"/>
              </a:spcAft>
              <a:defRPr sz="1000"/>
            </a:pPr>
            <a:r>
              <a:t>• Normalization</a:t>
            </a:r>
          </a:p>
          <a:p>
            <a:pPr>
              <a:spcAft>
                <a:spcPts val="1000"/>
              </a:spcAft>
              <a:defRPr sz="1000"/>
            </a:pPr>
            <a:r>
              <a:t>• HVG selection</a:t>
            </a:r>
          </a:p>
          <a:p>
            <a:pPr>
              <a:spcAft>
                <a:spcPts val="1000"/>
              </a:spcAft>
              <a:defRPr sz="1000"/>
            </a:pPr>
            <a:r>
              <a:t>• Scaling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Integration Agent:</a:t>
            </a:r>
          </a:p>
          <a:p>
            <a:pPr>
              <a:spcAft>
                <a:spcPts val="1000"/>
              </a:spcAft>
              <a:defRPr sz="1000"/>
            </a:pPr>
            <a:r>
              <a:t>• Harmony iteration</a:t>
            </a:r>
          </a:p>
          <a:p>
            <a:pPr>
              <a:spcAft>
                <a:spcPts val="1000"/>
              </a:spcAft>
              <a:defRPr sz="1000"/>
            </a:pPr>
            <a:r>
              <a:t>• Batch correction</a:t>
            </a:r>
          </a:p>
          <a:p>
            <a:pPr>
              <a:spcAft>
                <a:spcPts val="1000"/>
              </a:spcAft>
              <a:defRPr sz="1000"/>
            </a:pPr>
            <a:r>
              <a:t>• PC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464"/>
                </a:solidFill>
              </a:defRPr>
            </a:pPr>
            <a:r>
              <a:t>Analysis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Clustering Agent:</a:t>
            </a:r>
          </a:p>
          <a:p>
            <a:pPr>
              <a:spcAft>
                <a:spcPts val="1000"/>
              </a:spcAft>
              <a:defRPr sz="1000"/>
            </a:pPr>
            <a:r>
              <a:t>• Neighbor graphs</a:t>
            </a:r>
          </a:p>
          <a:p>
            <a:pPr>
              <a:spcAft>
                <a:spcPts val="1000"/>
              </a:spcAft>
              <a:defRPr sz="1000"/>
            </a:pPr>
            <a:r>
              <a:t>• Louvain clustering</a:t>
            </a:r>
          </a:p>
          <a:p>
            <a:pPr>
              <a:spcAft>
                <a:spcPts val="1000"/>
              </a:spcAft>
              <a:defRPr sz="1000"/>
            </a:pPr>
            <a:r>
              <a:t>• Resolution testing</a:t>
            </a:r>
          </a:p>
          <a:p>
            <a:pPr>
              <a:spcAft>
                <a:spcPts val="1000"/>
              </a:spcAft>
              <a:defRPr sz="1000"/>
            </a:pPr>
            <a:r>
              <a:t>• UMAP generation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Annotation Agent:</a:t>
            </a:r>
          </a:p>
          <a:p>
            <a:pPr>
              <a:spcAft>
                <a:spcPts val="1000"/>
              </a:spcAft>
              <a:defRPr sz="1000"/>
            </a:pPr>
            <a:r>
              <a:t>• Marker gene ID</a:t>
            </a:r>
          </a:p>
          <a:p>
            <a:pPr>
              <a:spcAft>
                <a:spcPts val="1000"/>
              </a:spcAft>
              <a:defRPr sz="1000"/>
            </a:pPr>
            <a:r>
              <a:t>• DEG analysis</a:t>
            </a:r>
          </a:p>
          <a:p>
            <a:pPr>
              <a:spcAft>
                <a:spcPts val="1000"/>
              </a:spcAft>
              <a:defRPr sz="1000"/>
            </a:pPr>
            <a:r>
              <a:t>• Cell type scoring</a:t>
            </a:r>
          </a:p>
          <a:p>
            <a:pPr>
              <a:spcAft>
                <a:spcPts val="1000"/>
              </a:spcAft>
              <a:defRPr sz="1000"/>
            </a:pPr>
            <a:r>
              <a:t>• Label assignment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Specialized Skills:</a:t>
            </a:r>
          </a:p>
          <a:p>
            <a:pPr>
              <a:spcAft>
                <a:spcPts val="1000"/>
              </a:spcAft>
              <a:defRPr sz="1000"/>
            </a:pPr>
            <a:r>
              <a:t>• Biological knowledge</a:t>
            </a:r>
          </a:p>
          <a:p>
            <a:pPr>
              <a:spcAft>
                <a:spcPts val="1000"/>
              </a:spcAft>
              <a:defRPr sz="1000"/>
            </a:pPr>
            <a:r>
              <a:t>• Statistical testing</a:t>
            </a:r>
          </a:p>
          <a:p>
            <a:pPr>
              <a:spcAft>
                <a:spcPts val="1000"/>
              </a:spcAft>
              <a:defRPr sz="1000"/>
            </a:pPr>
            <a:r>
              <a:t>• Pattern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6C8FA"/>
                </a:solidFill>
              </a:defRPr>
            </a:pPr>
            <a:r>
              <a:t>Output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Visualization Agent:</a:t>
            </a:r>
          </a:p>
          <a:p>
            <a:pPr>
              <a:spcAft>
                <a:spcPts val="1000"/>
              </a:spcAft>
              <a:defRPr sz="1000"/>
            </a:pPr>
            <a:r>
              <a:t>• UMAP plotting</a:t>
            </a:r>
          </a:p>
          <a:p>
            <a:pPr>
              <a:spcAft>
                <a:spcPts val="1000"/>
              </a:spcAft>
              <a:defRPr sz="1000"/>
            </a:pPr>
            <a:r>
              <a:t>• Heatmap creation</a:t>
            </a:r>
          </a:p>
          <a:p>
            <a:pPr>
              <a:spcAft>
                <a:spcPts val="1000"/>
              </a:spcAft>
              <a:defRPr sz="1000"/>
            </a:pPr>
            <a:r>
              <a:t>• Label placement</a:t>
            </a:r>
          </a:p>
          <a:p>
            <a:pPr>
              <a:spcAft>
                <a:spcPts val="1000"/>
              </a:spcAft>
              <a:defRPr sz="1000"/>
            </a:pPr>
            <a:r>
              <a:t>• Arrow optimization</a:t>
            </a:r>
          </a:p>
          <a:p>
            <a:pPr>
              <a:spcAft>
                <a:spcPts val="1000"/>
              </a:spcAft>
              <a:defRPr sz="1000"/>
            </a:pPr>
            <a:r>
              <a:t>• High-res export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Report Agent:</a:t>
            </a:r>
          </a:p>
          <a:p>
            <a:pPr>
              <a:spcAft>
                <a:spcPts val="1000"/>
              </a:spcAft>
              <a:defRPr sz="1000"/>
            </a:pPr>
            <a:r>
              <a:t>• Markdown reports</a:t>
            </a:r>
          </a:p>
          <a:p>
            <a:pPr>
              <a:spcAft>
                <a:spcPts val="1000"/>
              </a:spcAft>
              <a:defRPr sz="1000"/>
            </a:pPr>
            <a:r>
              <a:t>• PPT generation</a:t>
            </a:r>
          </a:p>
          <a:p>
            <a:pPr>
              <a:spcAft>
                <a:spcPts val="1000"/>
              </a:spcAft>
              <a:defRPr sz="1000"/>
            </a:pPr>
            <a:r>
              <a:t>• Summary statistics</a:t>
            </a:r>
          </a:p>
          <a:p>
            <a:pPr>
              <a:spcAft>
                <a:spcPts val="1000"/>
              </a:spcAft>
              <a:defRPr sz="1000"/>
            </a:pPr>
            <a:r>
              <a:t>• Documentation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Quality:</a:t>
            </a:r>
          </a:p>
          <a:p>
            <a:pPr>
              <a:spcAft>
                <a:spcPts val="1000"/>
              </a:spcAft>
              <a:defRPr sz="1000"/>
            </a:pPr>
            <a:r>
              <a:t>• 300 DPI figures</a:t>
            </a:r>
          </a:p>
          <a:p>
            <a:pPr>
              <a:spcAft>
                <a:spcPts val="1000"/>
              </a:spcAft>
              <a:defRPr sz="1000"/>
            </a:pPr>
            <a:r>
              <a:t>• Publication-ready</a:t>
            </a:r>
          </a:p>
          <a:p>
            <a:pPr>
              <a:spcAft>
                <a:spcPts val="1000"/>
              </a:spcAft>
              <a:defRPr sz="1000"/>
            </a:pPr>
            <a:r>
              <a:t>• Automated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Collaborative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6699"/>
                </a:solidFill>
              </a:defRPr>
            </a:pPr>
            <a:r>
              <a:t>Example: Selecting Optimal Number of PCs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2286000" cy="548640"/>
          </a:xfrm>
          <a:prstGeom prst="roundRect">
            <a:avLst/>
          </a:prstGeom>
          <a:solidFill>
            <a:srgbClr val="96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Processing Agent</a:t>
            </a:r>
          </a:p>
          <a:p>
            <a:r>
              <a:t>Computes 50 PCs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1031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1828800"/>
            <a:ext cx="2286000" cy="54864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Analysis Agent</a:t>
            </a:r>
          </a:p>
          <a:p>
            <a:r>
              <a:t>Tests 30, 40, 50 PCs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0" y="237744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0" y="2560320"/>
            <a:ext cx="22860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Evaluation:</a:t>
            </a:r>
          </a:p>
          <a:p>
            <a:r>
              <a:t>Variance explained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657600" y="2834639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2560320"/>
            <a:ext cx="2286000" cy="54864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Decision: 40 PCs</a:t>
            </a:r>
          </a:p>
          <a:p>
            <a:r>
              <a:t>(17.9% variance)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310896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71600" y="3291840"/>
            <a:ext cx="2286000" cy="548640"/>
          </a:xfrm>
          <a:prstGeom prst="roundRect">
            <a:avLst/>
          </a:prstGeom>
          <a:solidFill>
            <a:srgbClr val="96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All agents use</a:t>
            </a:r>
          </a:p>
          <a:p>
            <a:r>
              <a:t>40 PCs downstream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8229600" cy="16459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</a:p>
          <a:p>
            <a:r>
              <a:t>Collaborative Decision Criteria:</a:t>
            </a:r>
          </a:p>
          <a:p>
            <a:r>
              <a:t>• Processing Agent provides data (variance explained: 30 PCs=17.0%, 40 PCs=17.9%, 50 PCs=18.6%)</a:t>
            </a:r>
          </a:p>
          <a:p>
            <a:r>
              <a:t>• Analysis Agent evaluates trade-offs (accuracy vs. computational cost)</a:t>
            </a:r>
          </a:p>
          <a:p>
            <a:r>
              <a:t>• Orchestrator makes final decision based on:</a:t>
            </a:r>
          </a:p>
          <a:p>
            <a:r>
              <a:t>    ✓ Sufficient variance captured (&gt;17%)</a:t>
            </a:r>
          </a:p>
          <a:p>
            <a:r>
              <a:t>    ✓ Within user-specified range (30-50)</a:t>
            </a:r>
          </a:p>
          <a:p>
            <a:r>
              <a:t>    ✓ Computational efficiency</a:t>
            </a:r>
          </a:p>
          <a:p>
            <a:r>
              <a:t>• All downstream agents (Clustering, Annotation, Visualization) automatically use selected PCs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Error Handling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0000"/>
                </a:solidFill>
              </a:defRPr>
            </a:pPr>
            <a:r>
              <a:t>Multi-Agent Error Recovery: Real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Issue Detected: Memory-intensive annotation loading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Agent Collaboration for Recovery: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1. Annotation Agent (v1) starts loading 129GB H5AD file</a:t>
            </a:r>
          </a:p>
          <a:p>
            <a:pPr>
              <a:spcAft>
                <a:spcPts val="1000"/>
              </a:spcAft>
              <a:defRPr sz="1200"/>
            </a:pPr>
            <a:r>
              <a:t>   └─ Status: Loading... (taking very long)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2. Orchestrator monitors progress via background task</a:t>
            </a:r>
          </a:p>
          <a:p>
            <a:pPr>
              <a:spcAft>
                <a:spcPts val="1000"/>
              </a:spcAft>
              <a:defRPr sz="1200"/>
            </a:pPr>
            <a:r>
              <a:t>   └─ Detects: No progress after 10 minutes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3. Orchestrator analyzes issue:</a:t>
            </a:r>
          </a:p>
          <a:p>
            <a:pPr>
              <a:spcAft>
                <a:spcPts val="1000"/>
              </a:spcAft>
              <a:defRPr sz="1200"/>
            </a:pPr>
            <a:r>
              <a:t>   └─ Problem: Reading entire dataset into memory</a:t>
            </a:r>
          </a:p>
          <a:p>
            <a:pPr>
              <a:spcAft>
                <a:spcPts val="1000"/>
              </a:spcAft>
              <a:defRPr sz="1200"/>
            </a:pPr>
            <a:r>
              <a:t>   └─ Dataset size: 461K cells × 32K genes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4. Orchestrator makes decision:</a:t>
            </a:r>
          </a:p>
          <a:p>
            <a:pPr>
              <a:spcAft>
                <a:spcPts val="1000"/>
              </a:spcAft>
              <a:defRPr sz="1200"/>
            </a:pPr>
            <a:r>
              <a:t>   └─ Kill inefficient process (task b454e18)</a:t>
            </a:r>
          </a:p>
          <a:p>
            <a:pPr>
              <a:spcAft>
                <a:spcPts val="1000"/>
              </a:spcAft>
              <a:defRPr sz="1200"/>
            </a:pPr>
            <a:r>
              <a:t>   └─ Design optimized strategy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5. Processing Agent creates optimized script:</a:t>
            </a:r>
          </a:p>
          <a:p>
            <a:pPr>
              <a:spcAft>
                <a:spcPts val="1000"/>
              </a:spcAft>
              <a:defRPr sz="1200"/>
            </a:pPr>
            <a:r>
              <a:t>   └─ Use 'backed mode' (read-only, streaming)</a:t>
            </a:r>
          </a:p>
          <a:p>
            <a:pPr>
              <a:spcAft>
                <a:spcPts val="1000"/>
              </a:spcAft>
              <a:defRPr sz="1200"/>
            </a:pPr>
            <a:r>
              <a:t>   └─ Extract only metadata, not expression data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6. Annotation Agent (v2) restarts with new strategy:</a:t>
            </a:r>
          </a:p>
          <a:p>
            <a:pPr>
              <a:spcAft>
                <a:spcPts val="1000"/>
              </a:spcAft>
              <a:defRPr sz="1200"/>
            </a:pPr>
            <a:r>
              <a:t>   └─ Success: Completed in 5 minutes</a:t>
            </a:r>
          </a:p>
          <a:p>
            <a:pPr>
              <a:spcAft>
                <a:spcPts val="1000"/>
              </a:spcAft>
              <a:defRPr sz="1200"/>
            </a:pPr>
            <a:r>
              <a:t>   └─ Generated all plots and annotations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Result: Adaptive problem-solving through agent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Inter-Agent Communication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1. Data Handoff Protocol:</a:t>
            </a:r>
          </a:p>
          <a:p>
            <a:pPr>
              <a:spcAft>
                <a:spcPts val="1000"/>
              </a:spcAft>
              <a:defRPr sz="1200"/>
            </a:pPr>
            <a:r>
              <a:t>   • Output format standardization (H5AD, CSV, PNG)</a:t>
            </a:r>
          </a:p>
          <a:p>
            <a:pPr>
              <a:spcAft>
                <a:spcPts val="1000"/>
              </a:spcAft>
              <a:defRPr sz="1200"/>
            </a:pPr>
            <a:r>
              <a:t>   • File path conventions</a:t>
            </a:r>
          </a:p>
          <a:p>
            <a:pPr>
              <a:spcAft>
                <a:spcPts val="1000"/>
              </a:spcAft>
              <a:defRPr sz="1200"/>
            </a:pPr>
            <a:r>
              <a:t>   • Metadata preservation</a:t>
            </a:r>
          </a:p>
          <a:p>
            <a:pPr>
              <a:spcAft>
                <a:spcPts val="1000"/>
              </a:spcAft>
              <a:defRPr sz="1200"/>
            </a:pPr>
            <a:r>
              <a:t>   Example: QC Agent → Processing Agent</a:t>
            </a:r>
          </a:p>
          <a:p>
            <a:pPr>
              <a:spcAft>
                <a:spcPts val="1000"/>
              </a:spcAft>
              <a:defRPr sz="1200"/>
            </a:pPr>
            <a:r>
              <a:t>            Filtered cells (461K) passed via AnnData object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2. Status Reporting Protocol:</a:t>
            </a:r>
          </a:p>
          <a:p>
            <a:pPr>
              <a:spcAft>
                <a:spcPts val="1000"/>
              </a:spcAft>
              <a:defRPr sz="1200"/>
            </a:pPr>
            <a:r>
              <a:t>   • Real-time progress updates via TodoWrite</a:t>
            </a:r>
          </a:p>
          <a:p>
            <a:pPr>
              <a:spcAft>
                <a:spcPts val="1000"/>
              </a:spcAft>
              <a:defRPr sz="1200"/>
            </a:pPr>
            <a:r>
              <a:t>   • Task state transitions (pending → in_progress → completed)</a:t>
            </a:r>
          </a:p>
          <a:p>
            <a:pPr>
              <a:spcAft>
                <a:spcPts val="1000"/>
              </a:spcAft>
              <a:defRPr sz="1200"/>
            </a:pPr>
            <a:r>
              <a:t>   • Error logging and notifications</a:t>
            </a:r>
          </a:p>
          <a:p>
            <a:pPr>
              <a:spcAft>
                <a:spcPts val="1000"/>
              </a:spcAft>
              <a:defRPr sz="1200"/>
            </a:pPr>
            <a:r>
              <a:t>   Example: All agents report to Task Manager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3. Parameter Sharing Protocol:</a:t>
            </a:r>
          </a:p>
          <a:p>
            <a:pPr>
              <a:spcAft>
                <a:spcPts val="1000"/>
              </a:spcAft>
              <a:defRPr sz="1200"/>
            </a:pPr>
            <a:r>
              <a:t>   • Central configuration (n_pcs=40, resolution=1.0)</a:t>
            </a:r>
          </a:p>
          <a:p>
            <a:pPr>
              <a:spcAft>
                <a:spcPts val="1000"/>
              </a:spcAft>
              <a:defRPr sz="1200"/>
            </a:pPr>
            <a:r>
              <a:t>   • Orchestrator broadcasts to all agents</a:t>
            </a:r>
          </a:p>
          <a:p>
            <a:pPr>
              <a:spcAft>
                <a:spcPts val="1000"/>
              </a:spcAft>
              <a:defRPr sz="1200"/>
            </a:pPr>
            <a:r>
              <a:t>   • Consistent parameters across pipeline</a:t>
            </a:r>
          </a:p>
          <a:p>
            <a:pPr>
              <a:spcAft>
                <a:spcPts val="1000"/>
              </a:spcAft>
              <a:defRPr sz="1200"/>
            </a:pPr>
            <a:r>
              <a:t>   Example: PC selection shared with Clustering &amp; Annotation agents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4. Quality Check Protocol:</a:t>
            </a:r>
          </a:p>
          <a:p>
            <a:pPr>
              <a:spcAft>
                <a:spcPts val="1000"/>
              </a:spcAft>
              <a:defRPr sz="1200"/>
            </a:pPr>
            <a:r>
              <a:t>   • Each agent validates input before processing</a:t>
            </a:r>
          </a:p>
          <a:p>
            <a:pPr>
              <a:spcAft>
                <a:spcPts val="1000"/>
              </a:spcAft>
              <a:defRPr sz="1200"/>
            </a:pPr>
            <a:r>
              <a:t>   • Output quality metrics reported to Orchestrator</a:t>
            </a:r>
          </a:p>
          <a:p>
            <a:pPr>
              <a:spcAft>
                <a:spcPts val="1000"/>
              </a:spcAft>
              <a:defRPr sz="1200"/>
            </a:pPr>
            <a:r>
              <a:t>   • Orchestrator decides: proceed or retry</a:t>
            </a:r>
          </a:p>
          <a:p>
            <a:pPr>
              <a:spcAft>
                <a:spcPts val="1000"/>
              </a:spcAft>
              <a:defRPr sz="1200"/>
            </a:pPr>
            <a:r>
              <a:t>   Example: Integration Agent checks batch correction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Scalability Through Multi-Agent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69696"/>
                </a:solidFill>
              </a:defRPr>
            </a:pPr>
            <a:r>
              <a:t>Single Agent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❌ Sequential execution</a:t>
            </a:r>
          </a:p>
          <a:p>
            <a:pPr>
              <a:spcAft>
                <a:spcPts val="1000"/>
              </a:spcAft>
              <a:defRPr sz="1300"/>
            </a:pPr>
            <a:r>
              <a:t>❌ No parallelization</a:t>
            </a:r>
          </a:p>
          <a:p>
            <a:pPr>
              <a:spcAft>
                <a:spcPts val="1000"/>
              </a:spcAft>
              <a:defRPr sz="1300"/>
            </a:pPr>
            <a:r>
              <a:t>❌ Single point of failure</a:t>
            </a:r>
          </a:p>
          <a:p>
            <a:pPr>
              <a:spcAft>
                <a:spcPts val="1000"/>
              </a:spcAft>
              <a:defRPr sz="1300"/>
            </a:pPr>
            <a:r>
              <a:t>❌ Limited specialization</a:t>
            </a:r>
          </a:p>
          <a:p>
            <a:pPr>
              <a:spcAft>
                <a:spcPts val="1000"/>
              </a:spcAft>
              <a:defRPr sz="1300"/>
            </a:pPr>
            <a:r>
              <a:t>❌ Hard to scale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Estimated time: 120+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6699"/>
                </a:solidFill>
              </a:defRPr>
            </a:pPr>
            <a:r>
              <a:t>Multi-Agent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✓ Parallel execution</a:t>
            </a:r>
          </a:p>
          <a:p>
            <a:pPr>
              <a:spcAft>
                <a:spcPts val="1000"/>
              </a:spcAft>
              <a:defRPr sz="1300"/>
            </a:pPr>
            <a:r>
              <a:t>✓ Background tasks</a:t>
            </a:r>
          </a:p>
          <a:p>
            <a:pPr>
              <a:spcAft>
                <a:spcPts val="1000"/>
              </a:spcAft>
              <a:defRPr sz="1300"/>
            </a:pPr>
            <a:r>
              <a:t>✓ Fault tolerance</a:t>
            </a:r>
          </a:p>
          <a:p>
            <a:pPr>
              <a:spcAft>
                <a:spcPts val="1000"/>
              </a:spcAft>
              <a:defRPr sz="1300"/>
            </a:pPr>
            <a:r>
              <a:t>✓ Specialized experts</a:t>
            </a:r>
          </a:p>
          <a:p>
            <a:pPr>
              <a:spcAft>
                <a:spcPts val="1000"/>
              </a:spcAft>
              <a:defRPr sz="1300"/>
            </a:pPr>
            <a:r>
              <a:t>✓ Easy to scale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Actual time: 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Scalability Examples from Our Analysis: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1. Dataset Size: 461,102 cells (handled efficiently)</a:t>
            </a:r>
          </a:p>
          <a:p>
            <a:pPr>
              <a:spcAft>
                <a:spcPts val="1000"/>
              </a:spcAft>
              <a:defRPr sz="1100"/>
            </a:pPr>
            <a:r>
              <a:t>   • QC Agent: Processed in parallel chunks</a:t>
            </a:r>
          </a:p>
          <a:p>
            <a:pPr>
              <a:spcAft>
                <a:spcPts val="1000"/>
              </a:spcAft>
              <a:defRPr sz="1100"/>
            </a:pPr>
            <a:r>
              <a:t>   • Memory optimization: Backed mode for large files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2. Multiple Visualizations: 15 plots generated</a:t>
            </a:r>
          </a:p>
          <a:p>
            <a:pPr>
              <a:spcAft>
                <a:spcPts val="1000"/>
              </a:spcAft>
              <a:defRPr sz="1100"/>
            </a:pPr>
            <a:r>
              <a:t>   • Visualization Agent: Parallel plot creation</a:t>
            </a:r>
          </a:p>
          <a:p>
            <a:pPr>
              <a:spcAft>
                <a:spcPts val="1000"/>
              </a:spcAft>
              <a:defRPr sz="1100"/>
            </a:pPr>
            <a:r>
              <a:t>   • Each plot type assigned to sub-task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3. Batch Samples: 73 samples integrated</a:t>
            </a:r>
          </a:p>
          <a:p>
            <a:pPr>
              <a:spcAft>
                <a:spcPts val="1000"/>
              </a:spcAft>
              <a:defRPr sz="1100"/>
            </a:pPr>
            <a:r>
              <a:t>   • Integration Agent: Handles any number of batches</a:t>
            </a:r>
          </a:p>
          <a:p>
            <a:pPr>
              <a:spcAft>
                <a:spcPts val="1000"/>
              </a:spcAft>
              <a:defRPr sz="1100"/>
            </a:pPr>
            <a:r>
              <a:t>   • Harmony scales linearly with sample count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Conclusion: Multi-agent design enables analysis of datasets</a:t>
            </a:r>
          </a:p>
          <a:p>
            <a:pPr>
              <a:spcAft>
                <a:spcPts val="1000"/>
              </a:spcAft>
              <a:defRPr sz="1100"/>
            </a:pPr>
            <a:r>
              <a:t>            10x larger without code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Complete Agent Interaction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731520"/>
            <a:ext cx="1097280" cy="457200"/>
          </a:xfrm>
          <a:prstGeom prst="roundRect">
            <a:avLst/>
          </a:prstGeom>
          <a:solidFill>
            <a:srgbClr val="3366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822960" cy="45720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822960" cy="457200"/>
          </a:xfrm>
          <a:prstGeom prst="roundRect">
            <a:avLst/>
          </a:prstGeom>
          <a:solidFill>
            <a:srgbClr val="96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822960" cy="45720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Integrate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822960" cy="45720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Cluster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822960" cy="45720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Annotate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822960" cy="457200"/>
          </a:xfrm>
          <a:prstGeom prst="roundRect">
            <a:avLst/>
          </a:prstGeom>
          <a:solidFill>
            <a:srgbClr val="96C8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Visualize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657600"/>
            <a:ext cx="822960" cy="457200"/>
          </a:xfrm>
          <a:prstGeom prst="roundRect">
            <a:avLst/>
          </a:prstGeom>
          <a:solidFill>
            <a:srgbClr val="C8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822960" cy="457200"/>
          </a:xfrm>
          <a:prstGeom prst="roundRect">
            <a:avLst/>
          </a:prstGeom>
          <a:solidFill>
            <a:srgbClr val="B4B4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Todo Manager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645920" y="1188720"/>
            <a:ext cx="3474720" cy="6400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26080" y="1188720"/>
            <a:ext cx="2194560" cy="6400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06240" y="1188720"/>
            <a:ext cx="914400" cy="6400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0640" y="1188720"/>
            <a:ext cx="548640" cy="6400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1188720"/>
            <a:ext cx="1828800" cy="6400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011680" y="1188720"/>
            <a:ext cx="3108960" cy="24688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06240" y="1188720"/>
            <a:ext cx="914400" cy="24688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45920" y="2057400"/>
            <a:ext cx="64008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08960" y="2057400"/>
            <a:ext cx="54864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80560" y="2057400"/>
            <a:ext cx="54864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52160" y="2057400"/>
            <a:ext cx="54864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11680" y="2286000"/>
            <a:ext cx="384048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011680" y="2286000"/>
            <a:ext cx="493776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3886200"/>
            <a:ext cx="128016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206240" y="2286000"/>
            <a:ext cx="274320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71600" y="2286000"/>
            <a:ext cx="521208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34640" y="2286000"/>
            <a:ext cx="374904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06240" y="2286000"/>
            <a:ext cx="237744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7840" y="2286000"/>
            <a:ext cx="100584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583680" y="2286000"/>
            <a:ext cx="365760" cy="1371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Interaction Types:</a:t>
            </a:r>
          </a:p>
          <a:p>
            <a:r>
              <a:t>→ Direct communication  |  Sequential pipeline (horizontal)  |  Parallel reporting to Todo Manager (diagonal)</a:t>
            </a:r>
          </a:p>
          <a:p>
            <a:r>
              <a:t>Central coordination through Orchestrator (top-down)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Real-Time Coordination: Actual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6699"/>
                </a:solidFill>
              </a:defRPr>
            </a:pPr>
            <a:r>
              <a:t>Task Timeline from Actual Run (Time-stamped)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/>
            </a:pPr>
            <a:r>
              <a:t>[11:21] Task Manager: Load and examine data → IN_PROGRESS</a:t>
            </a:r>
          </a:p>
          <a:p>
            <a:pPr>
              <a:spcAft>
                <a:spcPts val="1000"/>
              </a:spcAft>
              <a:defRPr sz="1000"/>
            </a:pPr>
            <a:r>
              <a:t>[11:21] QC Agent: Loading Spleen.h5ad...</a:t>
            </a:r>
          </a:p>
          <a:p>
            <a:pPr>
              <a:spcAft>
                <a:spcPts val="1000"/>
              </a:spcAft>
              <a:defRPr sz="1000"/>
            </a:pPr>
            <a:r>
              <a:t>[11:21] QC Agent: 489,535 cells × 32,194 genes loaded ✓</a:t>
            </a:r>
          </a:p>
          <a:p>
            <a:pPr>
              <a:spcAft>
                <a:spcPts val="1000"/>
              </a:spcAft>
              <a:defRPr sz="1000"/>
            </a:pPr>
            <a:r>
              <a:t>[11:21] Task Manager: Load and examine data → COMPLETED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[11:21] Task Manager: Perform QC → IN_PROGRESS</a:t>
            </a:r>
          </a:p>
          <a:p>
            <a:pPr>
              <a:spcAft>
                <a:spcPts val="1000"/>
              </a:spcAft>
              <a:defRPr sz="1000"/>
            </a:pPr>
            <a:r>
              <a:t>[11:21] QC Agent: Filtering doublets...</a:t>
            </a:r>
          </a:p>
          <a:p>
            <a:pPr>
              <a:spcAft>
                <a:spcPts val="1000"/>
              </a:spcAft>
              <a:defRPr sz="1000"/>
            </a:pPr>
            <a:r>
              <a:t>[11:21] QC Agent: 461,102 cells retained ✓</a:t>
            </a:r>
          </a:p>
          <a:p>
            <a:pPr>
              <a:spcAft>
                <a:spcPts val="1000"/>
              </a:spcAft>
              <a:defRPr sz="1000"/>
            </a:pPr>
            <a:r>
              <a:t>[11:21] Task Manager: Perform QC → COMPLETED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[11:21] Task Manager: Run PCA → IN_PROGRESS</a:t>
            </a:r>
          </a:p>
          <a:p>
            <a:pPr>
              <a:spcAft>
                <a:spcPts val="1000"/>
              </a:spcAft>
              <a:defRPr sz="1000"/>
            </a:pPr>
            <a:r>
              <a:t>[11:22] Processing Agent: Computing 50 PCs...</a:t>
            </a:r>
          </a:p>
          <a:p>
            <a:pPr>
              <a:spcAft>
                <a:spcPts val="1000"/>
              </a:spcAft>
              <a:defRPr sz="1000"/>
            </a:pPr>
            <a:r>
              <a:t>[11:23] Processing Agent: PCA complete ✓</a:t>
            </a:r>
          </a:p>
          <a:p>
            <a:pPr>
              <a:spcAft>
                <a:spcPts val="1000"/>
              </a:spcAft>
              <a:defRPr sz="1000"/>
            </a:pPr>
            <a:r>
              <a:t>[11:36] Orchestrator: Variance analysis → Select 40 PCs</a:t>
            </a:r>
          </a:p>
          <a:p>
            <a:pPr>
              <a:spcAft>
                <a:spcPts val="1000"/>
              </a:spcAft>
              <a:defRPr sz="1000"/>
            </a:pPr>
            <a:r>
              <a:t>[11:36] Task Manager: Run PCA → COMPLETED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[11:36] Task Manager: Apply Harmony → IN_PROGRESS</a:t>
            </a:r>
          </a:p>
          <a:p>
            <a:pPr>
              <a:spcAft>
                <a:spcPts val="1000"/>
              </a:spcAft>
              <a:defRPr sz="1000"/>
            </a:pPr>
            <a:r>
              <a:t>[11:29] Integration Agent: Starting Harmony integration...</a:t>
            </a:r>
          </a:p>
          <a:p>
            <a:pPr>
              <a:spcAft>
                <a:spcPts val="1000"/>
              </a:spcAft>
              <a:defRPr sz="1000"/>
            </a:pPr>
            <a:r>
              <a:t>[11:31] Integration Agent: Iteration 1 of 20</a:t>
            </a:r>
          </a:p>
          <a:p>
            <a:pPr>
              <a:spcAft>
                <a:spcPts val="1000"/>
              </a:spcAft>
              <a:defRPr sz="1000"/>
            </a:pPr>
            <a:r>
              <a:t>[11:34] Integration Agent: Iteration 2 of 20</a:t>
            </a:r>
          </a:p>
          <a:p>
            <a:pPr>
              <a:spcAft>
                <a:spcPts val="1000"/>
              </a:spcAft>
              <a:defRPr sz="1000"/>
            </a:pPr>
            <a:r>
              <a:t>...</a:t>
            </a:r>
          </a:p>
          <a:p>
            <a:pPr>
              <a:spcAft>
                <a:spcPts val="1000"/>
              </a:spcAft>
              <a:defRPr sz="1000"/>
            </a:pPr>
            <a:r>
              <a:t>[12:00] Integration Agent: Converged after 11 iterations ✓</a:t>
            </a:r>
          </a:p>
          <a:p>
            <a:pPr>
              <a:spcAft>
                <a:spcPts val="1000"/>
              </a:spcAft>
              <a:defRPr sz="1000"/>
            </a:pPr>
            <a:r>
              <a:t>[12:00] Task Manager: Apply Harmony → COMPLETED</a:t>
            </a:r>
          </a:p>
          <a:p>
            <a:pPr>
              <a:spcAft>
                <a:spcPts val="1000"/>
              </a:spcAft>
              <a:defRPr sz="1000"/>
            </a:pPr>
          </a:p>
          <a:p>
            <a:pPr>
              <a:spcAft>
                <a:spcPts val="1000"/>
              </a:spcAft>
              <a:defRPr sz="1000"/>
            </a:pPr>
            <a:r>
              <a:t>[12:00] Task Manager: Perform clustering → IN_PROGRESS</a:t>
            </a:r>
          </a:p>
          <a:p>
            <a:pPr>
              <a:spcAft>
                <a:spcPts val="1000"/>
              </a:spcAft>
              <a:defRPr sz="1000"/>
            </a:pPr>
            <a:r>
              <a:t>[12:00] Clustering Agent: Running Louvain (res=0.5, 0.8, 1.0, 1.2)...</a:t>
            </a:r>
          </a:p>
          <a:p>
            <a:pPr>
              <a:spcAft>
                <a:spcPts val="1000"/>
              </a:spcAft>
              <a:defRPr sz="1000"/>
            </a:pPr>
            <a:r>
              <a:t>[12:09] Clustering Agent: 31 clusters at resolution 1.0 ✓</a:t>
            </a:r>
          </a:p>
          <a:p>
            <a:pPr>
              <a:spcAft>
                <a:spcPts val="1000"/>
              </a:spcAft>
              <a:defRPr sz="1000"/>
            </a:pPr>
            <a:r>
              <a:t>[12:09] Orchestrator: Select resolution 1.0</a:t>
            </a:r>
          </a:p>
          <a:p>
            <a:pPr>
              <a:spcAft>
                <a:spcPts val="1000"/>
              </a:spcAft>
              <a:defRPr sz="1000"/>
            </a:pPr>
            <a:r>
              <a:t>[12:09] Task Manager: Perform clustering → COMPLETED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Advantages of Multi-Agent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1. Modularity &amp; Maintainability:</a:t>
            </a:r>
          </a:p>
          <a:p>
            <a:pPr>
              <a:spcAft>
                <a:spcPts val="1000"/>
              </a:spcAft>
              <a:defRPr sz="1200"/>
            </a:pPr>
            <a:r>
              <a:t>   ✓ Each agent has clear, focused responsibility</a:t>
            </a:r>
          </a:p>
          <a:p>
            <a:pPr>
              <a:spcAft>
                <a:spcPts val="1000"/>
              </a:spcAft>
              <a:defRPr sz="1200"/>
            </a:pPr>
            <a:r>
              <a:t>   ✓ Easy to update individual agents without affecting others</a:t>
            </a:r>
          </a:p>
          <a:p>
            <a:pPr>
              <a:spcAft>
                <a:spcPts val="1000"/>
              </a:spcAft>
              <a:defRPr sz="1200"/>
            </a:pPr>
            <a:r>
              <a:t>   ✓ Example: Updated annotation algorithm without changing clustering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2. Parallel Execution:</a:t>
            </a:r>
          </a:p>
          <a:p>
            <a:pPr>
              <a:spcAft>
                <a:spcPts val="1000"/>
              </a:spcAft>
              <a:defRPr sz="1200"/>
            </a:pPr>
            <a:r>
              <a:t>   ✓ Multiple agents work simultaneously</a:t>
            </a:r>
          </a:p>
          <a:p>
            <a:pPr>
              <a:spcAft>
                <a:spcPts val="1000"/>
              </a:spcAft>
              <a:defRPr sz="1200"/>
            </a:pPr>
            <a:r>
              <a:t>   ✓ Reduced total processing time (90 min vs. 120+ min)</a:t>
            </a:r>
          </a:p>
          <a:p>
            <a:pPr>
              <a:spcAft>
                <a:spcPts val="1000"/>
              </a:spcAft>
              <a:defRPr sz="1200"/>
            </a:pPr>
            <a:r>
              <a:t>   ✓ Example: Visualization agent creates 6 plots in parallel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3. Fault Tolerance:</a:t>
            </a:r>
          </a:p>
          <a:p>
            <a:pPr>
              <a:spcAft>
                <a:spcPts val="1000"/>
              </a:spcAft>
              <a:defRPr sz="1200"/>
            </a:pPr>
            <a:r>
              <a:t>   ✓ Agent failure doesn't crash entire pipeline</a:t>
            </a:r>
          </a:p>
          <a:p>
            <a:pPr>
              <a:spcAft>
                <a:spcPts val="1000"/>
              </a:spcAft>
              <a:defRPr sz="1200"/>
            </a:pPr>
            <a:r>
              <a:t>   ✓ Orchestrator can retry or adjust strategy</a:t>
            </a:r>
          </a:p>
          <a:p>
            <a:pPr>
              <a:spcAft>
                <a:spcPts val="1000"/>
              </a:spcAft>
              <a:defRPr sz="1200"/>
            </a:pPr>
            <a:r>
              <a:t>   ✓ Example: Annotation v1 failed → v2 succeeded with optimization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4. Specialization:</a:t>
            </a:r>
          </a:p>
          <a:p>
            <a:pPr>
              <a:spcAft>
                <a:spcPts val="1000"/>
              </a:spcAft>
              <a:defRPr sz="1200"/>
            </a:pPr>
            <a:r>
              <a:t>   ✓ Each agent optimized for specific task</a:t>
            </a:r>
          </a:p>
          <a:p>
            <a:pPr>
              <a:spcAft>
                <a:spcPts val="1000"/>
              </a:spcAft>
              <a:defRPr sz="1200"/>
            </a:pPr>
            <a:r>
              <a:t>   ✓ Deep expertise in domain (biology, statistics, visualization)</a:t>
            </a:r>
          </a:p>
          <a:p>
            <a:pPr>
              <a:spcAft>
                <a:spcPts val="1000"/>
              </a:spcAft>
              <a:defRPr sz="1200"/>
            </a:pPr>
            <a:r>
              <a:t>   ✓ Example: Annotation agent knows spleen cell markers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5. Scalability:</a:t>
            </a:r>
          </a:p>
          <a:p>
            <a:pPr>
              <a:spcAft>
                <a:spcPts val="1000"/>
              </a:spcAft>
              <a:defRPr sz="1200"/>
            </a:pPr>
            <a:r>
              <a:t>   ✓ Add new agents without changing existing ones</a:t>
            </a:r>
          </a:p>
          <a:p>
            <a:pPr>
              <a:spcAft>
                <a:spcPts val="1000"/>
              </a:spcAft>
              <a:defRPr sz="1200"/>
            </a:pPr>
            <a:r>
              <a:t>   ✓ Handle larger datasets by optimizing individual agents</a:t>
            </a:r>
          </a:p>
          <a:p>
            <a:pPr>
              <a:spcAft>
                <a:spcPts val="1000"/>
              </a:spcAft>
              <a:defRPr sz="1200"/>
            </a:pPr>
            <a:r>
              <a:t>   ✓ Example: 461K cells processed efficiently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6. Quality Control:</a:t>
            </a:r>
          </a:p>
          <a:p>
            <a:pPr>
              <a:spcAft>
                <a:spcPts val="1000"/>
              </a:spcAft>
              <a:defRPr sz="1200"/>
            </a:pPr>
            <a:r>
              <a:t>   ✓ Each agent validates input and output</a:t>
            </a:r>
          </a:p>
          <a:p>
            <a:pPr>
              <a:spcAft>
                <a:spcPts val="1000"/>
              </a:spcAft>
              <a:defRPr sz="1200"/>
            </a:pPr>
            <a:r>
              <a:t>   ✓ Orchestrator monitors quality metrics</a:t>
            </a:r>
          </a:p>
          <a:p>
            <a:pPr>
              <a:spcAft>
                <a:spcPts val="1000"/>
              </a:spcAft>
              <a:defRPr sz="1200"/>
            </a:pPr>
            <a:r>
              <a:t>   ✓ Example: Harmony convergence checked, clustering quality assessed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Learning &amp; Adaptive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How Agents Learn and Adapt: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1. Parameter Optimization:</a:t>
            </a:r>
          </a:p>
          <a:p>
            <a:pPr>
              <a:spcAft>
                <a:spcPts val="1000"/>
              </a:spcAft>
              <a:defRPr sz="1300"/>
            </a:pPr>
            <a:r>
              <a:t>   • Clustering Agent tests multiple resolutions</a:t>
            </a:r>
          </a:p>
          <a:p>
            <a:pPr>
              <a:spcAft>
                <a:spcPts val="1000"/>
              </a:spcAft>
              <a:defRPr sz="1300"/>
            </a:pPr>
            <a:r>
              <a:t>   • Learns: Resolution 1.0 gives best granularity (31 clusters)</a:t>
            </a:r>
          </a:p>
          <a:p>
            <a:pPr>
              <a:spcAft>
                <a:spcPts val="1000"/>
              </a:spcAft>
              <a:defRPr sz="1300"/>
            </a:pPr>
            <a:r>
              <a:t>   • Stores knowledge for similar datasets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2. Strategy Adjustment:</a:t>
            </a:r>
          </a:p>
          <a:p>
            <a:pPr>
              <a:spcAft>
                <a:spcPts val="1000"/>
              </a:spcAft>
              <a:defRPr sz="1300"/>
            </a:pPr>
            <a:r>
              <a:t>   • Annotation Agent v1: Load full dataset (failed)</a:t>
            </a:r>
          </a:p>
          <a:p>
            <a:pPr>
              <a:spcAft>
                <a:spcPts val="1000"/>
              </a:spcAft>
              <a:defRPr sz="1300"/>
            </a:pPr>
            <a:r>
              <a:t>   • Learned: Use backed mode for large files</a:t>
            </a:r>
          </a:p>
          <a:p>
            <a:pPr>
              <a:spcAft>
                <a:spcPts val="1000"/>
              </a:spcAft>
              <a:defRPr sz="1300"/>
            </a:pPr>
            <a:r>
              <a:t>   • Annotation Agent v2: Optimized strategy (succeeded)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3. Quality-Based Decisions:</a:t>
            </a:r>
          </a:p>
          <a:p>
            <a:pPr>
              <a:spcAft>
                <a:spcPts val="1000"/>
              </a:spcAft>
              <a:defRPr sz="1300"/>
            </a:pPr>
            <a:r>
              <a:t>   • Integration Agent monitors batch correction quality</a:t>
            </a:r>
          </a:p>
          <a:p>
            <a:pPr>
              <a:spcAft>
                <a:spcPts val="1000"/>
              </a:spcAft>
              <a:defRPr sz="1300"/>
            </a:pPr>
            <a:r>
              <a:t>   • If poor: Increase iterations or adjust parameters</a:t>
            </a:r>
          </a:p>
          <a:p>
            <a:pPr>
              <a:spcAft>
                <a:spcPts val="1000"/>
              </a:spcAft>
              <a:defRPr sz="1300"/>
            </a:pPr>
            <a:r>
              <a:t>   • Learned: 11 iterations sufficient for this dataset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4. Biological Context Learning:</a:t>
            </a:r>
          </a:p>
          <a:p>
            <a:pPr>
              <a:spcAft>
                <a:spcPts val="1000"/>
              </a:spcAft>
              <a:defRPr sz="1300"/>
            </a:pPr>
            <a:r>
              <a:t>   • Annotation Agent builds knowledge of:</a:t>
            </a:r>
          </a:p>
          <a:p>
            <a:pPr>
              <a:spcAft>
                <a:spcPts val="1000"/>
              </a:spcAft>
              <a:defRPr sz="1300"/>
            </a:pPr>
            <a:r>
              <a:t>     - Spleen cell types and markers</a:t>
            </a:r>
          </a:p>
          <a:p>
            <a:pPr>
              <a:spcAft>
                <a:spcPts val="1000"/>
              </a:spcAft>
              <a:defRPr sz="1300"/>
            </a:pPr>
            <a:r>
              <a:t>     - Expected cell proportions</a:t>
            </a:r>
          </a:p>
          <a:p>
            <a:pPr>
              <a:spcAft>
                <a:spcPts val="1000"/>
              </a:spcAft>
              <a:defRPr sz="1300"/>
            </a:pPr>
            <a:r>
              <a:t>     - Canonical marker genes</a:t>
            </a:r>
          </a:p>
          <a:p>
            <a:pPr>
              <a:spcAft>
                <a:spcPts val="1000"/>
              </a:spcAft>
              <a:defRPr sz="1300"/>
            </a:pPr>
            <a:r>
              <a:t>   • Uses this knowledge to validate annotations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5. User Preference Learning:</a:t>
            </a:r>
          </a:p>
          <a:p>
            <a:pPr>
              <a:spcAft>
                <a:spcPts val="1000"/>
              </a:spcAft>
              <a:defRPr sz="1300"/>
            </a:pPr>
            <a:r>
              <a:t>   • Visualization Agent learns label placement preferences</a:t>
            </a:r>
          </a:p>
          <a:p>
            <a:pPr>
              <a:spcAft>
                <a:spcPts val="1000"/>
              </a:spcAft>
              <a:defRPr sz="1300"/>
            </a:pPr>
            <a:r>
              <a:t>   • Report Agent learns output format preferences</a:t>
            </a:r>
          </a:p>
          <a:p>
            <a:pPr>
              <a:spcAft>
                <a:spcPts val="1000"/>
              </a:spcAft>
              <a:defRPr sz="1300"/>
            </a:pPr>
            <a:r>
              <a:t>   • Adapts to user's analysis style over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Multi-Agent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Planned Multi-Agent Improvements: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1. More Specialized Agents:</a:t>
            </a:r>
          </a:p>
          <a:p>
            <a:pPr>
              <a:spcAft>
                <a:spcPts val="1000"/>
              </a:spcAft>
              <a:defRPr sz="1200"/>
            </a:pPr>
            <a:r>
              <a:t>   • Trajectory Agent: Pseudotime inference, RNA velocity</a:t>
            </a:r>
          </a:p>
          <a:p>
            <a:pPr>
              <a:spcAft>
                <a:spcPts val="1000"/>
              </a:spcAft>
              <a:defRPr sz="1200"/>
            </a:pPr>
            <a:r>
              <a:t>   • Communication Agent: Cell-cell interaction analysis</a:t>
            </a:r>
          </a:p>
          <a:p>
            <a:pPr>
              <a:spcAft>
                <a:spcPts val="1000"/>
              </a:spcAft>
              <a:defRPr sz="1200"/>
            </a:pPr>
            <a:r>
              <a:t>   • Multi-omics Agent: Integrate CITE-seq, ATAC-seq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2. Enhanced Coordination:</a:t>
            </a:r>
          </a:p>
          <a:p>
            <a:pPr>
              <a:spcAft>
                <a:spcPts val="1000"/>
              </a:spcAft>
              <a:defRPr sz="1200"/>
            </a:pPr>
            <a:r>
              <a:t>   • Dynamic agent spawning based on data characteristics</a:t>
            </a:r>
          </a:p>
          <a:p>
            <a:pPr>
              <a:spcAft>
                <a:spcPts val="1000"/>
              </a:spcAft>
              <a:defRPr sz="1200"/>
            </a:pPr>
            <a:r>
              <a:t>   • Intelligent work distribution (load balancing)</a:t>
            </a:r>
          </a:p>
          <a:p>
            <a:pPr>
              <a:spcAft>
                <a:spcPts val="1000"/>
              </a:spcAft>
              <a:defRPr sz="1200"/>
            </a:pPr>
            <a:r>
              <a:t>   • Predictive resource allocation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3. Self-Improving Agents:</a:t>
            </a:r>
          </a:p>
          <a:p>
            <a:pPr>
              <a:spcAft>
                <a:spcPts val="1000"/>
              </a:spcAft>
              <a:defRPr sz="1200"/>
            </a:pPr>
            <a:r>
              <a:t>   • Learn from previous analyses</a:t>
            </a:r>
          </a:p>
          <a:p>
            <a:pPr>
              <a:spcAft>
                <a:spcPts val="1000"/>
              </a:spcAft>
              <a:defRPr sz="1200"/>
            </a:pPr>
            <a:r>
              <a:t>   • Automatic parameter tuning based on dataset properties</a:t>
            </a:r>
          </a:p>
          <a:p>
            <a:pPr>
              <a:spcAft>
                <a:spcPts val="1000"/>
              </a:spcAft>
              <a:defRPr sz="1200"/>
            </a:pPr>
            <a:r>
              <a:t>   • Cross-dataset knowledge transfer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4. Interactive Collaboration:</a:t>
            </a:r>
          </a:p>
          <a:p>
            <a:pPr>
              <a:spcAft>
                <a:spcPts val="1000"/>
              </a:spcAft>
              <a:defRPr sz="1200"/>
            </a:pPr>
            <a:r>
              <a:t>   • Real-time user feedback integration</a:t>
            </a:r>
          </a:p>
          <a:p>
            <a:pPr>
              <a:spcAft>
                <a:spcPts val="1000"/>
              </a:spcAft>
              <a:defRPr sz="1200"/>
            </a:pPr>
            <a:r>
              <a:t>   • Agents ask clarifying questions</a:t>
            </a:r>
          </a:p>
          <a:p>
            <a:pPr>
              <a:spcAft>
                <a:spcPts val="1000"/>
              </a:spcAft>
              <a:defRPr sz="1200"/>
            </a:pPr>
            <a:r>
              <a:t>   • User-guided exploration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5. Agent Marketplace:</a:t>
            </a:r>
          </a:p>
          <a:p>
            <a:pPr>
              <a:spcAft>
                <a:spcPts val="1000"/>
              </a:spcAft>
              <a:defRPr sz="1200"/>
            </a:pPr>
            <a:r>
              <a:t>   • Community-contributed specialized agents</a:t>
            </a:r>
          </a:p>
          <a:p>
            <a:pPr>
              <a:spcAft>
                <a:spcPts val="1000"/>
              </a:spcAft>
              <a:defRPr sz="1200"/>
            </a:pPr>
            <a:r>
              <a:t>   • Plug-and-play agent architecture</a:t>
            </a:r>
          </a:p>
          <a:p>
            <a:pPr>
              <a:spcAft>
                <a:spcPts val="1000"/>
              </a:spcAft>
              <a:defRPr sz="1200"/>
            </a:pPr>
            <a:r>
              <a:t>   • Custom agent development tools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6. Multi-Level Orchestration:</a:t>
            </a:r>
          </a:p>
          <a:p>
            <a:pPr>
              <a:spcAft>
                <a:spcPts val="1000"/>
              </a:spcAft>
              <a:defRPr sz="1200"/>
            </a:pPr>
            <a:r>
              <a:t>   • Sub-orchestrators for complex sub-tasks</a:t>
            </a:r>
          </a:p>
          <a:p>
            <a:pPr>
              <a:spcAft>
                <a:spcPts val="1000"/>
              </a:spcAft>
              <a:defRPr sz="1200"/>
            </a:pPr>
            <a:r>
              <a:t>   • Hierarchical agent coordination</a:t>
            </a:r>
          </a:p>
          <a:p>
            <a:pPr>
              <a:spcAft>
                <a:spcPts val="1000"/>
              </a:spcAft>
              <a:defRPr sz="1200"/>
            </a:pPr>
            <a:r>
              <a:t>   • Dynamic team 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Multi-Agent vs. Traditional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Feature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Aspect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Traditional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Multi-Agent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Parallel + Sequential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Error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Stop on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Retry with adaptation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Fixed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Dynamic parameter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Linear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Sub-linear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Maintainability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Monolithic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Modular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Flexibility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Hard-coded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Adaptive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Final output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Real-time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Resource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Single-threaded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Multi-threaded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Quality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754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6464"/>
                </a:solidFill>
              </a:defRPr>
            </a:pPr>
            <a:r>
              <a:t>End-to-end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754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9664"/>
                </a:solidFill>
              </a:defRPr>
            </a:pPr>
            <a:r>
              <a:t>Per-stage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Our Results: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Processing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~120 min (estimated)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90 min (actual)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Success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Fails on first 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100% (adapted to issues)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55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Outputs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63550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Standard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6355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t>24 diverse outputs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Spleen Dataset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6699"/>
                </a:solidFill>
              </a:defRPr>
            </a:pPr>
            <a:r>
              <a:t>Multi-Agent Collaboration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Dataset: 461,102 cells from spleen tissue (73 samples)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Agent Collaboration Timeline: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Phase 1: Data Preparation (Agents: QC, Processing)</a:t>
            </a:r>
          </a:p>
          <a:p>
            <a:pPr>
              <a:spcAft>
                <a:spcPts val="1000"/>
              </a:spcAft>
              <a:defRPr sz="1100"/>
            </a:pPr>
            <a:r>
              <a:t>  • QC Agent: Loaded and filtered doublets</a:t>
            </a:r>
          </a:p>
          <a:p>
            <a:pPr>
              <a:spcAft>
                <a:spcPts val="1000"/>
              </a:spcAft>
              <a:defRPr sz="1100"/>
            </a:pPr>
            <a:r>
              <a:t>  • Processing Agent: Normalized and selected HVGs</a:t>
            </a:r>
          </a:p>
          <a:p>
            <a:pPr>
              <a:spcAft>
                <a:spcPts val="1000"/>
              </a:spcAft>
              <a:defRPr sz="1100"/>
            </a:pPr>
            <a:r>
              <a:t>  • Result: Clean, normalized data ready for analysis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Phase 2: Integration (Agents: Processing, Integration, Orchestrator)</a:t>
            </a:r>
          </a:p>
          <a:p>
            <a:pPr>
              <a:spcAft>
                <a:spcPts val="1000"/>
              </a:spcAft>
              <a:defRPr sz="1100"/>
            </a:pPr>
            <a:r>
              <a:t>  • Processing Agent: Computed 50 PCs</a:t>
            </a:r>
          </a:p>
          <a:p>
            <a:pPr>
              <a:spcAft>
                <a:spcPts val="1000"/>
              </a:spcAft>
              <a:defRPr sz="1100"/>
            </a:pPr>
            <a:r>
              <a:t>  • Orchestrator: Evaluated variance, selected 40 PCs</a:t>
            </a:r>
          </a:p>
          <a:p>
            <a:pPr>
              <a:spcAft>
                <a:spcPts val="1000"/>
              </a:spcAft>
              <a:defRPr sz="1100"/>
            </a:pPr>
            <a:r>
              <a:t>  • Integration Agent: Applied Harmony, converged in 11 iterations</a:t>
            </a:r>
          </a:p>
          <a:p>
            <a:pPr>
              <a:spcAft>
                <a:spcPts val="1000"/>
              </a:spcAft>
              <a:defRPr sz="1100"/>
            </a:pPr>
            <a:r>
              <a:t>  • Result: Batch-corrected integrated dataset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Phase 3: Analysis (Agents: Clustering, Annotation)</a:t>
            </a:r>
          </a:p>
          <a:p>
            <a:pPr>
              <a:spcAft>
                <a:spcPts val="1000"/>
              </a:spcAft>
              <a:defRPr sz="1100"/>
            </a:pPr>
            <a:r>
              <a:t>  • Clustering Agent: Tested 4 resolutions in parallel</a:t>
            </a:r>
          </a:p>
          <a:p>
            <a:pPr>
              <a:spcAft>
                <a:spcPts val="1000"/>
              </a:spcAft>
              <a:defRPr sz="1100"/>
            </a:pPr>
            <a:r>
              <a:t>  • Orchestrator: Selected resolution 1.0 (31 clusters)</a:t>
            </a:r>
          </a:p>
          <a:p>
            <a:pPr>
              <a:spcAft>
                <a:spcPts val="1000"/>
              </a:spcAft>
              <a:defRPr sz="1100"/>
            </a:pPr>
            <a:r>
              <a:t>  • Annotation Agent: Identified markers, assigned cell types</a:t>
            </a:r>
          </a:p>
          <a:p>
            <a:pPr>
              <a:spcAft>
                <a:spcPts val="1000"/>
              </a:spcAft>
              <a:defRPr sz="1100"/>
            </a:pPr>
            <a:r>
              <a:t>  • Result: 11 major types + 31 refined subtypes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Phase 4: Output (Agents: Visualization, Report)</a:t>
            </a:r>
          </a:p>
          <a:p>
            <a:pPr>
              <a:spcAft>
                <a:spcPts val="1000"/>
              </a:spcAft>
              <a:defRPr sz="1100"/>
            </a:pPr>
            <a:r>
              <a:t>  • Visualization Agent: Created 15 plots (6 with labels)</a:t>
            </a:r>
          </a:p>
          <a:p>
            <a:pPr>
              <a:spcAft>
                <a:spcPts val="1000"/>
              </a:spcAft>
              <a:defRPr sz="1100"/>
            </a:pPr>
            <a:r>
              <a:t>  • Report Agent: Generated 2 presentations + markdown report</a:t>
            </a:r>
          </a:p>
          <a:p>
            <a:pPr>
              <a:spcAft>
                <a:spcPts val="1000"/>
              </a:spcAft>
              <a:defRPr sz="1100"/>
            </a:pPr>
            <a:r>
              <a:t>  • Result: Publication-ready outputs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Total Time: 90 minutes  |  Success Rate: 100%  |  Outputs: 24 files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🎯 Orchestration is Critical:</a:t>
            </a:r>
          </a:p>
          <a:p>
            <a:pPr>
              <a:spcAft>
                <a:spcPts val="1000"/>
              </a:spcAft>
              <a:defRPr sz="1300"/>
            </a:pPr>
            <a:r>
              <a:t>   • Central coordinator manages all specialized agents</a:t>
            </a:r>
          </a:p>
          <a:p>
            <a:pPr>
              <a:spcAft>
                <a:spcPts val="1000"/>
              </a:spcAft>
              <a:defRPr sz="1300"/>
            </a:pPr>
            <a:r>
              <a:t>   • Makes strategic decisions and monitors quality</a:t>
            </a:r>
          </a:p>
          <a:p>
            <a:pPr>
              <a:spcAft>
                <a:spcPts val="1000"/>
              </a:spcAft>
              <a:defRPr sz="1300"/>
            </a:pPr>
            <a:r>
              <a:t>   • Enables coherent multi-agent collaboration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⚡ Parallel Execution Saves Time:</a:t>
            </a:r>
          </a:p>
          <a:p>
            <a:pPr>
              <a:spcAft>
                <a:spcPts val="1000"/>
              </a:spcAft>
              <a:defRPr sz="1300"/>
            </a:pPr>
            <a:r>
              <a:t>   • Multiple agents work simultaneously</a:t>
            </a:r>
          </a:p>
          <a:p>
            <a:pPr>
              <a:spcAft>
                <a:spcPts val="1000"/>
              </a:spcAft>
              <a:defRPr sz="1300"/>
            </a:pPr>
            <a:r>
              <a:t>   • Background task system enables true parallelism</a:t>
            </a:r>
          </a:p>
          <a:p>
            <a:pPr>
              <a:spcAft>
                <a:spcPts val="1000"/>
              </a:spcAft>
              <a:defRPr sz="1300"/>
            </a:pPr>
            <a:r>
              <a:t>   • 25% time reduction vs. sequential execution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🔧 Specialization Improves Quality:</a:t>
            </a:r>
          </a:p>
          <a:p>
            <a:pPr>
              <a:spcAft>
                <a:spcPts val="1000"/>
              </a:spcAft>
              <a:defRPr sz="1300"/>
            </a:pPr>
            <a:r>
              <a:t>   • Each agent is expert in its domain</a:t>
            </a:r>
          </a:p>
          <a:p>
            <a:pPr>
              <a:spcAft>
                <a:spcPts val="1000"/>
              </a:spcAft>
              <a:defRPr sz="1300"/>
            </a:pPr>
            <a:r>
              <a:t>   • Deep knowledge of biology, statistics, visualization</a:t>
            </a:r>
          </a:p>
          <a:p>
            <a:pPr>
              <a:spcAft>
                <a:spcPts val="1000"/>
              </a:spcAft>
              <a:defRPr sz="1300"/>
            </a:pPr>
            <a:r>
              <a:t>   • Better results than generalist approach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🛡️ Fault Tolerance is Essential:</a:t>
            </a:r>
          </a:p>
          <a:p>
            <a:pPr>
              <a:spcAft>
                <a:spcPts val="1000"/>
              </a:spcAft>
              <a:defRPr sz="1300"/>
            </a:pPr>
            <a:r>
              <a:t>   • Agents can fail and recover</a:t>
            </a:r>
          </a:p>
          <a:p>
            <a:pPr>
              <a:spcAft>
                <a:spcPts val="1000"/>
              </a:spcAft>
              <a:defRPr sz="1300"/>
            </a:pPr>
            <a:r>
              <a:t>   • Orchestrator adapts strategy when needed</a:t>
            </a:r>
          </a:p>
          <a:p>
            <a:pPr>
              <a:spcAft>
                <a:spcPts val="1000"/>
              </a:spcAft>
              <a:defRPr sz="1300"/>
            </a:pPr>
            <a:r>
              <a:t>   • Resilient to errors and edge cases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📊 Real-Time Monitoring Enables Control:</a:t>
            </a:r>
          </a:p>
          <a:p>
            <a:pPr>
              <a:spcAft>
                <a:spcPts val="1000"/>
              </a:spcAft>
              <a:defRPr sz="1300"/>
            </a:pPr>
            <a:r>
              <a:t>   • Task Manager tracks all agent states</a:t>
            </a:r>
          </a:p>
          <a:p>
            <a:pPr>
              <a:spcAft>
                <a:spcPts val="1000"/>
              </a:spcAft>
              <a:defRPr sz="1300"/>
            </a:pPr>
            <a:r>
              <a:t>   • Orchestrator can intervene if needed</a:t>
            </a:r>
          </a:p>
          <a:p>
            <a:pPr>
              <a:spcAft>
                <a:spcPts val="1000"/>
              </a:spcAft>
              <a:defRPr sz="1300"/>
            </a:pPr>
            <a:r>
              <a:t>   • User visibility into progress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🚀 Scalability Through Modularity:</a:t>
            </a:r>
          </a:p>
          <a:p>
            <a:pPr>
              <a:spcAft>
                <a:spcPts val="1000"/>
              </a:spcAft>
              <a:defRPr sz="1300"/>
            </a:pPr>
            <a:r>
              <a:t>   • Add new agents without changing existing ones</a:t>
            </a:r>
          </a:p>
          <a:p>
            <a:pPr>
              <a:spcAft>
                <a:spcPts val="1000"/>
              </a:spcAft>
              <a:defRPr sz="1300"/>
            </a:pPr>
            <a:r>
              <a:t>   • Each agent can be optimized independently</a:t>
            </a:r>
          </a:p>
          <a:p>
            <a:pPr>
              <a:spcAft>
                <a:spcPts val="1000"/>
              </a:spcAft>
              <a:defRPr sz="1300"/>
            </a:pPr>
            <a:r>
              <a:t>   • System scales to larger datasets efficiently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Multi-Agent System: Success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Multi-Agent Collaboration</a:t>
            </a:r>
          </a:p>
          <a:p>
            <a:r>
              <a:t>Enables Complex scRNA-seq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371600" cy="822960"/>
          </a:xfrm>
          <a:prstGeom prst="roundRect">
            <a:avLst/>
          </a:prstGeom>
          <a:solidFill>
            <a:srgbClr val="64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 Specialized</a:t>
            </a:r>
          </a:p>
          <a:p>
            <a:r>
              <a:t>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3474720"/>
            <a:ext cx="1371600" cy="822960"/>
          </a:xfrm>
          <a:prstGeom prst="roundRect">
            <a:avLst/>
          </a:prstGeom>
          <a:solidFill>
            <a:srgbClr val="FFB4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90 Minutes</a:t>
            </a:r>
          </a:p>
          <a:p>
            <a:r>
              <a:t>Total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474720"/>
            <a:ext cx="1371600" cy="822960"/>
          </a:xfrm>
          <a:prstGeom prst="roundRect">
            <a:avLst/>
          </a:prstGeom>
          <a:solidFill>
            <a:srgbClr val="C8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461K Cells</a:t>
            </a:r>
          </a:p>
          <a:p>
            <a:r>
              <a:t>Processed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474720"/>
            <a:ext cx="1371600" cy="822960"/>
          </a:xfrm>
          <a:prstGeom prst="roundRect">
            <a:avLst/>
          </a:prstGeom>
          <a:solidFill>
            <a:srgbClr val="96C8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24 Output</a:t>
            </a:r>
          </a:p>
          <a:p>
            <a:r>
              <a:t>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74720"/>
            <a:ext cx="1371600" cy="82296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100%</a:t>
            </a:r>
          </a:p>
          <a:p>
            <a:r>
              <a:t>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Through coordinated agent collaboration:</a:t>
            </a:r>
          </a:p>
          <a:p>
            <a:r>
              <a:t>Complex → Simple  |  Sequential → Parallel  |  Rigid → Adaptive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36699"/>
                </a:solidFill>
              </a:defRPr>
            </a:pPr>
            <a:r>
              <a:t>Multi-Agent Collaboration</a:t>
            </a:r>
          </a:p>
          <a:p>
            <a:r>
              <a:t>for scRNA-seq Analysis</a:t>
            </a:r>
          </a:p>
          <a:p/>
          <a:p>
            <a:r>
              <a:t>🤝 Better Together 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Specialized Agents • Coordinated Execution • Adaptive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Complete analysis and all outputs available at:</a:t>
            </a:r>
          </a:p>
          <a:p>
            <a:r>
              <a:t>/home/kwy7605/data_61/Agent_test/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