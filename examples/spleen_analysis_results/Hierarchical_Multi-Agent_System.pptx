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Hierarchical Multi-Agent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Coordinated Team-Based scRNA-seq Analysis</a:t>
            </a:r>
          </a:p>
          <a:p/>
          <a:p>
            <a:r>
              <a:t>From Strategic Planning to Specialized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Hierarchical Multi-Agent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</a:defRPr>
            </a:pPr>
            <a:r>
              <a:t>Level 1: Strategic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188720"/>
            <a:ext cx="3657600" cy="640080"/>
          </a:xfrm>
          <a:prstGeom prst="roundRect">
            <a:avLst/>
          </a:prstGeom>
          <a:solidFill>
            <a:srgbClr val="003366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🎯 Chief Orchestrator</a:t>
            </a:r>
          </a:p>
          <a:p>
            <a:r>
              <a:t>Claude Sonnet 4.5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36699"/>
                </a:solidFill>
              </a:defRPr>
            </a:pPr>
            <a:r>
              <a:t>Level 2: Tactical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286000"/>
            <a:ext cx="1828800" cy="548640"/>
          </a:xfrm>
          <a:prstGeom prst="roundRect">
            <a:avLst/>
          </a:prstGeom>
          <a:solidFill>
            <a:srgbClr val="336699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📊 Data Team</a:t>
            </a:r>
          </a:p>
          <a:p>
            <a:r>
              <a:t>Leader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2286000" y="1828800"/>
            <a:ext cx="2286000" cy="457200"/>
          </a:xfrm>
          <a:prstGeom prst="line">
            <a:avLst/>
          </a:prstGeom>
          <a:ln w="31750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57600" y="2286000"/>
            <a:ext cx="1828800" cy="548640"/>
          </a:xfrm>
          <a:prstGeom prst="roundRect">
            <a:avLst/>
          </a:prstGeom>
          <a:solidFill>
            <a:srgbClr val="336699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🔬 Analysis</a:t>
            </a:r>
          </a:p>
          <a:p>
            <a:r>
              <a:t>Team Leader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" y="1828800"/>
            <a:ext cx="0" cy="457200"/>
          </a:xfrm>
          <a:prstGeom prst="line">
            <a:avLst/>
          </a:prstGeom>
          <a:ln w="31750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0" y="2286000"/>
            <a:ext cx="1828800" cy="548640"/>
          </a:xfrm>
          <a:prstGeom prst="roundRect">
            <a:avLst/>
          </a:prstGeom>
          <a:solidFill>
            <a:srgbClr val="336699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📈 Output</a:t>
            </a:r>
          </a:p>
          <a:p>
            <a:r>
              <a:t>Team Leader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0" y="1828800"/>
            <a:ext cx="2286000" cy="457200"/>
          </a:xfrm>
          <a:prstGeom prst="line">
            <a:avLst/>
          </a:prstGeom>
          <a:ln w="31750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7432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B464"/>
                </a:solidFill>
              </a:defRPr>
            </a:pPr>
            <a:r>
              <a:t>Level 3: Operational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1188720" cy="411480"/>
          </a:xfrm>
          <a:prstGeom prst="roundRect">
            <a:avLst/>
          </a:prstGeom>
          <a:solidFill>
            <a:srgbClr val="64B4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QC 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77639"/>
            <a:ext cx="1188720" cy="411480"/>
          </a:xfrm>
          <a:prstGeom prst="roundRect">
            <a:avLst/>
          </a:prstGeom>
          <a:solidFill>
            <a:srgbClr val="64B4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Preprocess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1325880" y="2560320"/>
            <a:ext cx="960120" cy="914400"/>
          </a:xfrm>
          <a:prstGeom prst="line">
            <a:avLst/>
          </a:prstGeom>
          <a:ln w="25400">
            <a:solidFill>
              <a:srgbClr val="33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325880" y="2560320"/>
            <a:ext cx="960120" cy="1417319"/>
          </a:xfrm>
          <a:prstGeom prst="line">
            <a:avLst/>
          </a:prstGeom>
          <a:ln w="25400">
            <a:solidFill>
              <a:srgbClr val="33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017520" y="3474720"/>
            <a:ext cx="1188720" cy="411480"/>
          </a:xfrm>
          <a:prstGeom prst="roundRect">
            <a:avLst/>
          </a:prstGeom>
          <a:solidFill>
            <a:srgbClr val="C896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Integration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3977639"/>
            <a:ext cx="1188720" cy="411480"/>
          </a:xfrm>
          <a:prstGeom prst="roundRect">
            <a:avLst/>
          </a:prstGeom>
          <a:solidFill>
            <a:srgbClr val="C896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Clustering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3611880" y="2834640"/>
            <a:ext cx="960120" cy="640080"/>
          </a:xfrm>
          <a:prstGeom prst="line">
            <a:avLst/>
          </a:prstGeom>
          <a:ln w="25400">
            <a:solidFill>
              <a:srgbClr val="33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611880" y="2834640"/>
            <a:ext cx="960120" cy="1142999"/>
          </a:xfrm>
          <a:prstGeom prst="line">
            <a:avLst/>
          </a:prstGeom>
          <a:ln w="25400">
            <a:solidFill>
              <a:srgbClr val="33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303520" y="3474720"/>
            <a:ext cx="1188720" cy="411480"/>
          </a:xfrm>
          <a:prstGeom prst="roundRect">
            <a:avLst/>
          </a:prstGeom>
          <a:solidFill>
            <a:srgbClr val="FFB4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Annotation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0" y="3977639"/>
            <a:ext cx="1188720" cy="411480"/>
          </a:xfrm>
          <a:prstGeom prst="roundRect">
            <a:avLst/>
          </a:prstGeom>
          <a:solidFill>
            <a:srgbClr val="FFB4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Visualize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3474720"/>
            <a:ext cx="1188720" cy="411480"/>
          </a:xfrm>
          <a:prstGeom prst="roundRect">
            <a:avLst/>
          </a:prstGeom>
          <a:solidFill>
            <a:srgbClr val="FFB4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Report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5897880" y="2834640"/>
            <a:ext cx="960120" cy="640080"/>
          </a:xfrm>
          <a:prstGeom prst="line">
            <a:avLst/>
          </a:prstGeom>
          <a:ln w="25400">
            <a:solidFill>
              <a:srgbClr val="33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5897880" y="2834640"/>
            <a:ext cx="960120" cy="1142999"/>
          </a:xfrm>
          <a:prstGeom prst="line">
            <a:avLst/>
          </a:prstGeom>
          <a:ln w="25400">
            <a:solidFill>
              <a:srgbClr val="33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2834640"/>
            <a:ext cx="411480" cy="640080"/>
          </a:xfrm>
          <a:prstGeom prst="line">
            <a:avLst/>
          </a:prstGeom>
          <a:ln w="25400">
            <a:solidFill>
              <a:srgbClr val="33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74320" y="4754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B4B4"/>
                </a:solidFill>
              </a:defRPr>
            </a:pPr>
            <a:r>
              <a:t>Support Systems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4937760"/>
            <a:ext cx="2286000" cy="457200"/>
          </a:xfrm>
          <a:prstGeom prst="roundRect">
            <a:avLst/>
          </a:prstGeom>
          <a:solidFill>
            <a:srgbClr val="B4B4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📝 Task Manager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0" y="4937760"/>
            <a:ext cx="2286000" cy="457200"/>
          </a:xfrm>
          <a:prstGeom prst="roundRect">
            <a:avLst/>
          </a:prstGeom>
          <a:solidFill>
            <a:srgbClr val="B4B4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🔍 Quality Monitor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/>
            </a:pPr>
            <a:r>
              <a:t>Hierarchy Levels:</a:t>
            </a:r>
          </a:p>
          <a:p>
            <a:pPr>
              <a:spcAft>
                <a:spcPts val="1000"/>
              </a:spcAft>
              <a:defRPr sz="1000"/>
            </a:pPr>
            <a:r>
              <a:t>  L1: Strategic decisions &amp; coordination</a:t>
            </a:r>
          </a:p>
          <a:p>
            <a:pPr>
              <a:spcAft>
                <a:spcPts val="1000"/>
              </a:spcAft>
              <a:defRPr sz="1000"/>
            </a:pPr>
            <a:r>
              <a:t>  L2: Team management &amp; resource allocation</a:t>
            </a:r>
          </a:p>
          <a:p>
            <a:pPr>
              <a:spcAft>
                <a:spcPts val="1000"/>
              </a:spcAft>
              <a:defRPr sz="1000"/>
            </a:pPr>
            <a:r>
              <a:t>  L3: Specialized task execution</a:t>
            </a:r>
          </a:p>
          <a:p>
            <a:pPr>
              <a:spcAft>
                <a:spcPts val="1000"/>
              </a:spcAft>
              <a:defRPr sz="1000"/>
            </a:pPr>
            <a:r>
              <a:t>  Support: Cross-cutting services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Agent Organization Chart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188720"/>
            <a:ext cx="2743200" cy="731520"/>
          </a:xfrm>
          <a:prstGeom prst="roundRect">
            <a:avLst/>
          </a:prstGeom>
          <a:solidFill>
            <a:srgbClr val="003366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Chief Orchestrator</a:t>
            </a:r>
          </a:p>
          <a:p>
            <a:r>
              <a:t>(Strategic Planning &amp; Oversight)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560320" cy="822960"/>
          </a:xfrm>
          <a:prstGeom prst="roundRect">
            <a:avLst/>
          </a:prstGeom>
          <a:solidFill>
            <a:srgbClr val="336699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Data Processing Team Lead</a:t>
            </a:r>
          </a:p>
          <a:p>
            <a:r>
              <a:t>• QC oversight</a:t>
            </a:r>
          </a:p>
          <a:p>
            <a:r>
              <a:t>• Normalization strategy</a:t>
            </a:r>
          </a:p>
          <a:p>
            <a:r>
              <a:t>• Feature selection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737360" y="1920240"/>
            <a:ext cx="2834640" cy="365760"/>
          </a:xfrm>
          <a:prstGeom prst="line">
            <a:avLst/>
          </a:prstGeom>
          <a:ln w="31750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291840" y="2286000"/>
            <a:ext cx="2560320" cy="822960"/>
          </a:xfrm>
          <a:prstGeom prst="roundRect">
            <a:avLst/>
          </a:prstGeom>
          <a:solidFill>
            <a:srgbClr val="336699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Analysis Team Lead</a:t>
            </a:r>
          </a:p>
          <a:p>
            <a:r>
              <a:t>• Integration strategy</a:t>
            </a:r>
          </a:p>
          <a:p>
            <a:r>
              <a:t>• Clustering oversight</a:t>
            </a:r>
          </a:p>
          <a:p>
            <a:r>
              <a:t>• UMAP coordination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1920240"/>
            <a:ext cx="0" cy="365760"/>
          </a:xfrm>
          <a:prstGeom prst="line">
            <a:avLst/>
          </a:prstGeom>
          <a:ln w="31750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126480" y="2286000"/>
            <a:ext cx="2560320" cy="822960"/>
          </a:xfrm>
          <a:prstGeom prst="roundRect">
            <a:avLst/>
          </a:prstGeom>
          <a:solidFill>
            <a:srgbClr val="336699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Output Team Lead</a:t>
            </a:r>
          </a:p>
          <a:p>
            <a:r>
              <a:t>• Annotation review</a:t>
            </a:r>
          </a:p>
          <a:p>
            <a:r>
              <a:t>• Visualization standards</a:t>
            </a:r>
          </a:p>
          <a:p>
            <a:r>
              <a:t>• Report generation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" y="1920240"/>
            <a:ext cx="2834640" cy="365760"/>
          </a:xfrm>
          <a:prstGeom prst="line">
            <a:avLst/>
          </a:prstGeom>
          <a:ln w="31750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3474720"/>
            <a:ext cx="1188720" cy="457200"/>
          </a:xfrm>
          <a:prstGeom prst="roundRect">
            <a:avLst/>
          </a:prstGeom>
          <a:solidFill>
            <a:srgbClr val="64B4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QC Agent</a:t>
            </a:r>
          </a:p>
          <a:p>
            <a:r>
              <a:t>(Doublets)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3474720"/>
            <a:ext cx="1188720" cy="457200"/>
          </a:xfrm>
          <a:prstGeom prst="roundRect">
            <a:avLst/>
          </a:prstGeom>
          <a:solidFill>
            <a:srgbClr val="64B4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Processing</a:t>
            </a:r>
          </a:p>
          <a:p>
            <a:r>
              <a:t>(Normalize)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1051560" y="3108960"/>
            <a:ext cx="685800" cy="365760"/>
          </a:xfrm>
          <a:prstGeom prst="line">
            <a:avLst/>
          </a:prstGeom>
          <a:ln w="19050">
            <a:solidFill>
              <a:srgbClr val="33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737360" y="3108960"/>
            <a:ext cx="685800" cy="365760"/>
          </a:xfrm>
          <a:prstGeom prst="line">
            <a:avLst/>
          </a:prstGeom>
          <a:ln w="19050">
            <a:solidFill>
              <a:srgbClr val="33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291840" y="3474720"/>
            <a:ext cx="1188720" cy="457200"/>
          </a:xfrm>
          <a:prstGeom prst="roundRect">
            <a:avLst/>
          </a:prstGeom>
          <a:solidFill>
            <a:srgbClr val="C896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Integration</a:t>
            </a:r>
          </a:p>
          <a:p>
            <a:r>
              <a:t>(Harmony)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74720"/>
            <a:ext cx="1188720" cy="457200"/>
          </a:xfrm>
          <a:prstGeom prst="roundRect">
            <a:avLst/>
          </a:prstGeom>
          <a:solidFill>
            <a:srgbClr val="C896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Clustering</a:t>
            </a:r>
          </a:p>
          <a:p>
            <a:r>
              <a:t>(Louvain)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3886200" y="3108960"/>
            <a:ext cx="685800" cy="365760"/>
          </a:xfrm>
          <a:prstGeom prst="line">
            <a:avLst/>
          </a:prstGeom>
          <a:ln w="19050">
            <a:solidFill>
              <a:srgbClr val="33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0" y="3108960"/>
            <a:ext cx="685800" cy="365760"/>
          </a:xfrm>
          <a:prstGeom prst="line">
            <a:avLst/>
          </a:prstGeom>
          <a:ln w="19050">
            <a:solidFill>
              <a:srgbClr val="33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26480" y="3474720"/>
            <a:ext cx="1188720" cy="457200"/>
          </a:xfrm>
          <a:prstGeom prst="roundRect">
            <a:avLst/>
          </a:prstGeom>
          <a:solidFill>
            <a:srgbClr val="FFB4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Annotation</a:t>
            </a:r>
          </a:p>
          <a:p>
            <a:r>
              <a:t>(Markers)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4023359"/>
            <a:ext cx="1188720" cy="457200"/>
          </a:xfrm>
          <a:prstGeom prst="roundRect">
            <a:avLst/>
          </a:prstGeom>
          <a:solidFill>
            <a:srgbClr val="FFB4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Visualize</a:t>
            </a:r>
          </a:p>
          <a:p>
            <a:r>
              <a:t>(UMAPs)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3474720"/>
            <a:ext cx="1188720" cy="457200"/>
          </a:xfrm>
          <a:prstGeom prst="roundRect">
            <a:avLst/>
          </a:prstGeom>
          <a:solidFill>
            <a:srgbClr val="FFB4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Report</a:t>
            </a:r>
          </a:p>
          <a:p>
            <a:r>
              <a:t>(PPT)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6720840" y="3108960"/>
            <a:ext cx="685800" cy="365760"/>
          </a:xfrm>
          <a:prstGeom prst="line">
            <a:avLst/>
          </a:prstGeom>
          <a:ln w="19050">
            <a:solidFill>
              <a:srgbClr val="33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720840" y="3108960"/>
            <a:ext cx="685800" cy="914399"/>
          </a:xfrm>
          <a:prstGeom prst="line">
            <a:avLst/>
          </a:prstGeom>
          <a:ln w="19050">
            <a:solidFill>
              <a:srgbClr val="33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406640" y="3108960"/>
            <a:ext cx="685800" cy="365760"/>
          </a:xfrm>
          <a:prstGeom prst="line">
            <a:avLst/>
          </a:prstGeom>
          <a:ln w="19050">
            <a:solidFill>
              <a:srgbClr val="33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14400" y="5029200"/>
            <a:ext cx="2743200" cy="457200"/>
          </a:xfrm>
          <a:prstGeom prst="roundRect">
            <a:avLst/>
          </a:prstGeom>
          <a:solidFill>
            <a:srgbClr val="B4B4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Task Manager (Progress Tracking)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0" y="5029200"/>
            <a:ext cx="2743200" cy="457200"/>
          </a:xfrm>
          <a:prstGeom prst="roundRect">
            <a:avLst/>
          </a:prstGeom>
          <a:solidFill>
            <a:srgbClr val="B4B4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Quality Monitor (Validation)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2286000" y="4389120"/>
            <a:ext cx="0" cy="64008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486400" y="4389120"/>
            <a:ext cx="0" cy="64008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7200" y="5760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0000"/>
                </a:solidFill>
              </a:defRPr>
            </a:pPr>
            <a:r>
              <a:t>Command Flow: Top-down  |  Reporting: Bottom-up  |  Support: Cross-cutting</a:t>
            </a:r>
          </a:p>
          <a:p>
            <a:r>
              <a:t>Total: 1 Chief + 3 Team Leads + 8 Specialists = 12 Coordinated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Levels of Abstraction &amp; Decision Making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/>
            </a:pPr>
            <a:r>
              <a:t>Level 1: Strategic (Chief Orchestrator)</a:t>
            </a:r>
          </a:p>
          <a:p>
            <a:pPr>
              <a:spcAft>
                <a:spcPts val="1000"/>
              </a:spcAft>
              <a:defRPr sz="1100"/>
            </a:pPr>
            <a:r>
              <a:t>  • Overall analysis goals and success criteria</a:t>
            </a:r>
          </a:p>
          <a:p>
            <a:pPr>
              <a:spcAft>
                <a:spcPts val="1000"/>
              </a:spcAft>
              <a:defRPr sz="1100"/>
            </a:pPr>
            <a:r>
              <a:t>  • High-level decisions: Which integration method? What resolution?</a:t>
            </a:r>
          </a:p>
          <a:p>
            <a:pPr>
              <a:spcAft>
                <a:spcPts val="1000"/>
              </a:spcAft>
              <a:defRPr sz="1100"/>
            </a:pPr>
            <a:r>
              <a:t>  • Resource allocation across teams</a:t>
            </a:r>
          </a:p>
          <a:p>
            <a:pPr>
              <a:spcAft>
                <a:spcPts val="1000"/>
              </a:spcAft>
              <a:defRPr sz="1100"/>
            </a:pPr>
            <a:r>
              <a:t>  • Quality gates and acceptance criteria</a:t>
            </a:r>
          </a:p>
          <a:p>
            <a:pPr>
              <a:spcAft>
                <a:spcPts val="1000"/>
              </a:spcAft>
              <a:defRPr sz="1100"/>
            </a:pPr>
            <a:r>
              <a:t>  • Final approval of results</a:t>
            </a:r>
          </a:p>
          <a:p>
            <a:pPr>
              <a:spcAft>
                <a:spcPts val="1000"/>
              </a:spcAft>
              <a:defRPr sz="1100"/>
            </a:pPr>
            <a:r>
              <a:t>  Example: 'We need batch correction. Use Harmony with 40 PCs.'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Level 2: Tactical (Team Leaders)</a:t>
            </a:r>
          </a:p>
          <a:p>
            <a:pPr>
              <a:spcAft>
                <a:spcPts val="1000"/>
              </a:spcAft>
              <a:defRPr sz="1100"/>
            </a:pPr>
            <a:r>
              <a:t>  • Break down strategic goals into team objectives</a:t>
            </a:r>
          </a:p>
          <a:p>
            <a:pPr>
              <a:spcAft>
                <a:spcPts val="1000"/>
              </a:spcAft>
              <a:defRPr sz="1100"/>
            </a:pPr>
            <a:r>
              <a:t>  • Coordinate multiple agents within team</a:t>
            </a:r>
          </a:p>
          <a:p>
            <a:pPr>
              <a:spcAft>
                <a:spcPts val="1000"/>
              </a:spcAft>
              <a:defRPr sz="1100"/>
            </a:pPr>
            <a:r>
              <a:t>  • Optimize team workflows</a:t>
            </a:r>
          </a:p>
          <a:p>
            <a:pPr>
              <a:spcAft>
                <a:spcPts val="1000"/>
              </a:spcAft>
              <a:defRPr sz="1100"/>
            </a:pPr>
            <a:r>
              <a:t>  • Report progress and issues to Chief Orchestrator</a:t>
            </a:r>
          </a:p>
          <a:p>
            <a:pPr>
              <a:spcAft>
                <a:spcPts val="1000"/>
              </a:spcAft>
              <a:defRPr sz="1100"/>
            </a:pPr>
            <a:r>
              <a:t>  • Make tactical decisions within scope</a:t>
            </a:r>
          </a:p>
          <a:p>
            <a:pPr>
              <a:spcAft>
                <a:spcPts val="1000"/>
              </a:spcAft>
              <a:defRPr sz="1100"/>
            </a:pPr>
            <a:r>
              <a:t>  Example: 'Data Team: Prioritize QC, then HVG selection in parallel'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Level 3: Operational (Specialist Agents)</a:t>
            </a:r>
          </a:p>
          <a:p>
            <a:pPr>
              <a:spcAft>
                <a:spcPts val="1000"/>
              </a:spcAft>
              <a:defRPr sz="1100"/>
            </a:pPr>
            <a:r>
              <a:t>  • Execute specific technical tasks</a:t>
            </a:r>
          </a:p>
          <a:p>
            <a:pPr>
              <a:spcAft>
                <a:spcPts val="1000"/>
              </a:spcAft>
              <a:defRPr sz="1100"/>
            </a:pPr>
            <a:r>
              <a:t>  • Use specialized algorithms and tools</a:t>
            </a:r>
          </a:p>
          <a:p>
            <a:pPr>
              <a:spcAft>
                <a:spcPts val="1000"/>
              </a:spcAft>
              <a:defRPr sz="1100"/>
            </a:pPr>
            <a:r>
              <a:t>  • Report detailed metrics to Team Leader</a:t>
            </a:r>
          </a:p>
          <a:p>
            <a:pPr>
              <a:spcAft>
                <a:spcPts val="1000"/>
              </a:spcAft>
              <a:defRPr sz="1100"/>
            </a:pPr>
            <a:r>
              <a:t>  • Handle edge cases within domain</a:t>
            </a:r>
          </a:p>
          <a:p>
            <a:pPr>
              <a:spcAft>
                <a:spcPts val="1000"/>
              </a:spcAft>
              <a:defRPr sz="1100"/>
            </a:pPr>
            <a:r>
              <a:t>  • Optimize individual task performance</a:t>
            </a:r>
          </a:p>
          <a:p>
            <a:pPr>
              <a:spcAft>
                <a:spcPts val="1000"/>
              </a:spcAft>
              <a:defRPr sz="1100"/>
            </a:pPr>
            <a:r>
              <a:t>  Example: 'QC Agent: Filter 28,433 doublets using scrublet algorithm'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Support Systems: Cross-Cutting</a:t>
            </a:r>
          </a:p>
          <a:p>
            <a:pPr>
              <a:spcAft>
                <a:spcPts val="1000"/>
              </a:spcAft>
              <a:defRPr sz="1100"/>
            </a:pPr>
            <a:r>
              <a:t>  • Track all tasks across hierarchy</a:t>
            </a:r>
          </a:p>
          <a:p>
            <a:pPr>
              <a:spcAft>
                <a:spcPts val="1000"/>
              </a:spcAft>
              <a:defRPr sz="1100"/>
            </a:pPr>
            <a:r>
              <a:t>  • Monitor quality metrics at all levels</a:t>
            </a:r>
          </a:p>
          <a:p>
            <a:pPr>
              <a:spcAft>
                <a:spcPts val="1000"/>
              </a:spcAft>
              <a:defRPr sz="1100"/>
            </a:pPr>
            <a:r>
              <a:t>  • Provide infrastructure services</a:t>
            </a:r>
          </a:p>
          <a:p>
            <a:pPr>
              <a:spcAft>
                <a:spcPts val="1000"/>
              </a:spcAft>
              <a:defRPr sz="1100"/>
            </a:pPr>
            <a:r>
              <a:t>  • Enable communication between levels</a:t>
            </a:r>
          </a:p>
          <a:p>
            <a:pPr>
              <a:spcAft>
                <a:spcPts val="1000"/>
              </a:spcAft>
              <a:defRPr sz="1100"/>
            </a:pPr>
            <a:r>
              <a:t>  Example: 'Task Manager: 8/12 tasks completed, 1 in progress'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Team-Based Coordination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4B464"/>
                </a:solidFill>
              </a:defRPr>
            </a:pPr>
            <a:r>
              <a:t>Data Processing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828800" cy="457200"/>
          </a:xfrm>
          <a:prstGeom prst="roundRect">
            <a:avLst/>
          </a:prstGeom>
          <a:solidFill>
            <a:srgbClr val="336699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Team Leader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371600" y="2286000"/>
            <a:ext cx="457200" cy="36576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28800" y="2286000"/>
            <a:ext cx="457200" cy="36576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31520" y="2651760"/>
            <a:ext cx="1188720" cy="411480"/>
          </a:xfrm>
          <a:prstGeom prst="roundRect">
            <a:avLst/>
          </a:prstGeom>
          <a:solidFill>
            <a:srgbClr val="64B4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QC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2651760"/>
            <a:ext cx="1188720" cy="411480"/>
          </a:xfrm>
          <a:prstGeom prst="roundRect">
            <a:avLst/>
          </a:prstGeom>
          <a:solidFill>
            <a:srgbClr val="64B4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Process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/>
            </a:pPr>
            <a:r>
              <a:t>Coordination:</a:t>
            </a:r>
          </a:p>
          <a:p>
            <a:pPr>
              <a:spcAft>
                <a:spcPts val="1000"/>
              </a:spcAft>
              <a:defRPr sz="900"/>
            </a:pPr>
            <a:r>
              <a:t>• Leader assigns priorities</a:t>
            </a:r>
          </a:p>
          <a:p>
            <a:pPr>
              <a:spcAft>
                <a:spcPts val="1000"/>
              </a:spcAft>
              <a:defRPr sz="900"/>
            </a:pPr>
            <a:r>
              <a:t>• Sequential: QC → Process</a:t>
            </a:r>
          </a:p>
          <a:p>
            <a:pPr>
              <a:spcAft>
                <a:spcPts val="1000"/>
              </a:spcAft>
              <a:defRPr sz="900"/>
            </a:pPr>
            <a:r>
              <a:t>• Shared: Filtered data</a:t>
            </a:r>
          </a:p>
          <a:p>
            <a:pPr>
              <a:spcAft>
                <a:spcPts val="1000"/>
              </a:spcAft>
              <a:defRPr sz="900"/>
            </a:pPr>
            <a:r>
              <a:t>• Report: Cell count, QC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371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96C8"/>
                </a:solidFill>
              </a:defRPr>
            </a:pPr>
            <a:r>
              <a:t>Analysis Team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1828800"/>
            <a:ext cx="1828800" cy="457200"/>
          </a:xfrm>
          <a:prstGeom prst="roundRect">
            <a:avLst/>
          </a:prstGeom>
          <a:solidFill>
            <a:srgbClr val="336699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Team Leader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4389120" y="2286000"/>
            <a:ext cx="457200" cy="36576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846320" y="2286000"/>
            <a:ext cx="457200" cy="36576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749039" y="2651760"/>
            <a:ext cx="1188720" cy="411480"/>
          </a:xfrm>
          <a:prstGeom prst="roundRect">
            <a:avLst/>
          </a:prstGeom>
          <a:solidFill>
            <a:srgbClr val="C896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Integration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2651760"/>
            <a:ext cx="1188720" cy="411480"/>
          </a:xfrm>
          <a:prstGeom prst="roundRect">
            <a:avLst/>
          </a:prstGeom>
          <a:solidFill>
            <a:srgbClr val="C896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Clustering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29184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/>
            </a:pPr>
            <a:r>
              <a:t>Coordination:</a:t>
            </a:r>
          </a:p>
          <a:p>
            <a:pPr>
              <a:spcAft>
                <a:spcPts val="1000"/>
              </a:spcAft>
              <a:defRPr sz="900"/>
            </a:pPr>
            <a:r>
              <a:t>• Test parameters in parallel</a:t>
            </a:r>
          </a:p>
          <a:p>
            <a:pPr>
              <a:spcAft>
                <a:spcPts val="1000"/>
              </a:spcAft>
              <a:defRPr sz="900"/>
            </a:pPr>
            <a:r>
              <a:t>• Sequential: Harmony → Louvain</a:t>
            </a:r>
          </a:p>
          <a:p>
            <a:pPr>
              <a:spcAft>
                <a:spcPts val="1000"/>
              </a:spcAft>
              <a:defRPr sz="900"/>
            </a:pPr>
            <a:r>
              <a:t>• Shared: PC embeddings</a:t>
            </a:r>
          </a:p>
          <a:p>
            <a:pPr>
              <a:spcAft>
                <a:spcPts val="1000"/>
              </a:spcAft>
              <a:defRPr sz="900"/>
            </a:pPr>
            <a:r>
              <a:t>• Report: Cluster quality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371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B464"/>
                </a:solidFill>
              </a:defRPr>
            </a:pPr>
            <a:r>
              <a:t>Output Team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1828800"/>
            <a:ext cx="1828800" cy="457200"/>
          </a:xfrm>
          <a:prstGeom prst="roundRect">
            <a:avLst/>
          </a:prstGeom>
          <a:solidFill>
            <a:srgbClr val="336699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Team Leader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6858000" y="2286000"/>
            <a:ext cx="731520" cy="36576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589520" y="2286000"/>
            <a:ext cx="0" cy="36576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589520" y="2286000"/>
            <a:ext cx="731520" cy="36576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217920" y="2651760"/>
            <a:ext cx="1097280" cy="411480"/>
          </a:xfrm>
          <a:prstGeom prst="roundRect">
            <a:avLst/>
          </a:prstGeom>
          <a:solidFill>
            <a:srgbClr val="FFB4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Annotate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2651760"/>
            <a:ext cx="1097280" cy="411480"/>
          </a:xfrm>
          <a:prstGeom prst="roundRect">
            <a:avLst/>
          </a:prstGeom>
          <a:solidFill>
            <a:srgbClr val="FFB4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Visualize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0" y="2651760"/>
            <a:ext cx="1097280" cy="411480"/>
          </a:xfrm>
          <a:prstGeom prst="roundRect">
            <a:avLst/>
          </a:prstGeom>
          <a:solidFill>
            <a:srgbClr val="FFB4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2918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/>
            </a:pPr>
            <a:r>
              <a:t>Coordination:</a:t>
            </a:r>
          </a:p>
          <a:p>
            <a:pPr>
              <a:spcAft>
                <a:spcPts val="1000"/>
              </a:spcAft>
              <a:defRPr sz="900"/>
            </a:pPr>
            <a:r>
              <a:t>• Parallel execution (6 plots)</a:t>
            </a:r>
          </a:p>
          <a:p>
            <a:pPr>
              <a:spcAft>
                <a:spcPts val="1000"/>
              </a:spcAft>
              <a:defRPr sz="900"/>
            </a:pPr>
            <a:r>
              <a:t>• Shared: Annotations, UMAP</a:t>
            </a:r>
          </a:p>
          <a:p>
            <a:pPr>
              <a:spcAft>
                <a:spcPts val="1000"/>
              </a:spcAft>
              <a:defRPr sz="900"/>
            </a:pPr>
            <a:r>
              <a:t>• Leader validates quality</a:t>
            </a:r>
          </a:p>
          <a:p>
            <a:pPr>
              <a:spcAft>
                <a:spcPts val="1000"/>
              </a:spcAft>
              <a:defRPr sz="900"/>
            </a:pPr>
            <a:r>
              <a:t>• Report: Output files ready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</a:defRPr>
            </a:pPr>
            <a:r>
              <a:t>Inter-Team Communication (via Chief Orchestrator)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/>
            </a:pPr>
            <a:r>
              <a:t>Data Team → Analysis Team: 'Processed data ready with 3000 HVGs'</a:t>
            </a:r>
          </a:p>
          <a:p>
            <a:pPr>
              <a:spcAft>
                <a:spcPts val="1000"/>
              </a:spcAft>
              <a:defRPr sz="1100"/>
            </a:pPr>
            <a:r>
              <a:t>Analysis Team → Output Team: 'Clustering complete with 31 clusters at resolution 1.0'</a:t>
            </a:r>
          </a:p>
          <a:p>
            <a:pPr>
              <a:spcAft>
                <a:spcPts val="1000"/>
              </a:spcAft>
              <a:defRPr sz="1100"/>
            </a:pPr>
            <a:r>
              <a:t>Output Team → Chief Orchestrator: 'All 24 output files generated successfully'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Hierarchical Decision Making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Example: Selecting Clustering Resolution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828800"/>
            <a:ext cx="5486400" cy="548640"/>
          </a:xfrm>
          <a:prstGeom prst="roundRect">
            <a:avLst/>
          </a:prstGeom>
          <a:solidFill>
            <a:srgbClr val="00336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L1: Chief Orchestrator</a:t>
            </a:r>
          </a:p>
          <a:p>
            <a:r>
              <a:t>'Test clustering resolutions 0.5-1.2'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2377440"/>
            <a:ext cx="0" cy="27432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828800" y="2651760"/>
            <a:ext cx="5486400" cy="548640"/>
          </a:xfrm>
          <a:prstGeom prst="roundRect">
            <a:avLst/>
          </a:prstGeom>
          <a:solidFill>
            <a:srgbClr val="336699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L2: Analysis Team Leader</a:t>
            </a:r>
          </a:p>
          <a:p>
            <a:r>
              <a:t>'Assign Clustering Agent to test 4 resolutions'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3200400"/>
            <a:ext cx="0" cy="27432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828800" y="3474720"/>
            <a:ext cx="5486400" cy="548640"/>
          </a:xfrm>
          <a:prstGeom prst="roundRect">
            <a:avLst/>
          </a:prstGeom>
          <a:solidFill>
            <a:srgbClr val="C896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L3: Clustering Agent</a:t>
            </a:r>
          </a:p>
          <a:p>
            <a:r>
              <a:t>'Execute Louvain at res=0.5, 0.8, 1.0, 1.2'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" y="4023359"/>
            <a:ext cx="0" cy="274321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28800" y="4297680"/>
            <a:ext cx="5486400" cy="548640"/>
          </a:xfrm>
          <a:prstGeom prst="roundRect">
            <a:avLst/>
          </a:prstGeom>
          <a:solidFill>
            <a:srgbClr val="C896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L3: Results</a:t>
            </a:r>
          </a:p>
          <a:p>
            <a:r>
              <a:t>'19, 23, 31, 33 clusters respectively'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0" y="4846320"/>
            <a:ext cx="0" cy="27432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828800" y="5120640"/>
            <a:ext cx="5486400" cy="548640"/>
          </a:xfrm>
          <a:prstGeom prst="roundRect">
            <a:avLst/>
          </a:prstGeom>
          <a:solidFill>
            <a:srgbClr val="336699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L2: Team Leader Evaluation</a:t>
            </a:r>
          </a:p>
          <a:p>
            <a:r>
              <a:t>'Resolution 1.0 gives best granularity (31 clusters)'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5669279"/>
            <a:ext cx="0" cy="274321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828800" y="5943600"/>
            <a:ext cx="5486400" cy="548640"/>
          </a:xfrm>
          <a:prstGeom prst="roundRect">
            <a:avLst/>
          </a:prstGeom>
          <a:solidFill>
            <a:srgbClr val="00336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L1: Chief Approval</a:t>
            </a:r>
          </a:p>
          <a:p>
            <a:r>
              <a:t>'Approved. Proceed with resolution 1.0'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Information flows bottom-up, Decisions flow top-down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Delegation &amp; Agent Autonomy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/>
            </a:pPr>
            <a:r>
              <a:t>Principle: Delegate to the lowest competent level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Level 1 (Chief Orchestrator) delegates:</a:t>
            </a:r>
          </a:p>
          <a:p>
            <a:pPr>
              <a:spcAft>
                <a:spcPts val="1000"/>
              </a:spcAft>
              <a:defRPr sz="1100"/>
            </a:pPr>
            <a:r>
              <a:t>  ✓ Data quality → Data Team Leader</a:t>
            </a:r>
          </a:p>
          <a:p>
            <a:pPr>
              <a:spcAft>
                <a:spcPts val="1000"/>
              </a:spcAft>
              <a:defRPr sz="1100"/>
            </a:pPr>
            <a:r>
              <a:t>  ✓ Integration strategy → Analysis Team Leader</a:t>
            </a:r>
          </a:p>
          <a:p>
            <a:pPr>
              <a:spcAft>
                <a:spcPts val="1000"/>
              </a:spcAft>
              <a:defRPr sz="1100"/>
            </a:pPr>
            <a:r>
              <a:t>  ✓ Output generation → Output Team Leader</a:t>
            </a:r>
          </a:p>
          <a:p>
            <a:pPr>
              <a:spcAft>
                <a:spcPts val="1000"/>
              </a:spcAft>
              <a:defRPr sz="1100"/>
            </a:pPr>
            <a:r>
              <a:t>  ✗ Does NOT micromanage: Which doublet detection algorithm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Level 2 (Team Leaders) delegate:</a:t>
            </a:r>
          </a:p>
          <a:p>
            <a:pPr>
              <a:spcAft>
                <a:spcPts val="1000"/>
              </a:spcAft>
              <a:defRPr sz="1100"/>
            </a:pPr>
            <a:r>
              <a:t>  ✓ QC filtering → QC Agent</a:t>
            </a:r>
          </a:p>
          <a:p>
            <a:pPr>
              <a:spcAft>
                <a:spcPts val="1000"/>
              </a:spcAft>
              <a:defRPr sz="1100"/>
            </a:pPr>
            <a:r>
              <a:t>  ✓ Normalization method → Processing Agent</a:t>
            </a:r>
          </a:p>
          <a:p>
            <a:pPr>
              <a:spcAft>
                <a:spcPts val="1000"/>
              </a:spcAft>
              <a:defRPr sz="1100"/>
            </a:pPr>
            <a:r>
              <a:t>  ✓ Plot creation → Visualization Agent</a:t>
            </a:r>
          </a:p>
          <a:p>
            <a:pPr>
              <a:spcAft>
                <a:spcPts val="1000"/>
              </a:spcAft>
              <a:defRPr sz="1100"/>
            </a:pPr>
            <a:r>
              <a:t>  ✗ Does NOT micromanage: Exact matplotlib parameters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Level 3 (Specialist Agents) have autonomy for:</a:t>
            </a:r>
          </a:p>
          <a:p>
            <a:pPr>
              <a:spcAft>
                <a:spcPts val="1000"/>
              </a:spcAft>
              <a:defRPr sz="1100"/>
            </a:pPr>
            <a:r>
              <a:t>  ✓ Algorithm selection within domain</a:t>
            </a:r>
          </a:p>
          <a:p>
            <a:pPr>
              <a:spcAft>
                <a:spcPts val="1000"/>
              </a:spcAft>
              <a:defRPr sz="1100"/>
            </a:pPr>
            <a:r>
              <a:t>  ✓ Parameter fine-tuning</a:t>
            </a:r>
          </a:p>
          <a:p>
            <a:pPr>
              <a:spcAft>
                <a:spcPts val="1000"/>
              </a:spcAft>
              <a:defRPr sz="1100"/>
            </a:pPr>
            <a:r>
              <a:t>  ✓ Error handling at task level</a:t>
            </a:r>
          </a:p>
          <a:p>
            <a:pPr>
              <a:spcAft>
                <a:spcPts val="1000"/>
              </a:spcAft>
              <a:defRPr sz="1100"/>
            </a:pPr>
            <a:r>
              <a:t>  ✗ Escalate if: Quality thresholds not met, unexpected errors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Benefits:</a:t>
            </a:r>
          </a:p>
          <a:p>
            <a:pPr>
              <a:spcAft>
                <a:spcPts val="1000"/>
              </a:spcAft>
              <a:defRPr sz="1100"/>
            </a:pPr>
            <a:r>
              <a:t>  • Faster execution (no bottlenecks waiting for decisions)</a:t>
            </a:r>
          </a:p>
          <a:p>
            <a:pPr>
              <a:spcAft>
                <a:spcPts val="1000"/>
              </a:spcAft>
              <a:defRPr sz="1100"/>
            </a:pPr>
            <a:r>
              <a:t>  • Specialized expertise applied appropriately</a:t>
            </a:r>
          </a:p>
          <a:p>
            <a:pPr>
              <a:spcAft>
                <a:spcPts val="1000"/>
              </a:spcAft>
              <a:defRPr sz="1100"/>
            </a:pPr>
            <a:r>
              <a:t>  • Scalable (Chief doesn't need to know every detail)</a:t>
            </a:r>
          </a:p>
          <a:p>
            <a:pPr>
              <a:spcAft>
                <a:spcPts val="1000"/>
              </a:spcAft>
              <a:defRPr sz="1100"/>
            </a:pPr>
            <a:r>
              <a:t>  • Fault tolerance (agents handle local issues)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Example from our analysis:</a:t>
            </a:r>
          </a:p>
          <a:p>
            <a:pPr>
              <a:spcAft>
                <a:spcPts val="1000"/>
              </a:spcAft>
              <a:defRPr sz="1100"/>
            </a:pPr>
            <a:r>
              <a:t>  • Chief: 'Integrate batches' → Analysis Team Leader: 'Use Harmony'</a:t>
            </a:r>
          </a:p>
          <a:p>
            <a:pPr>
              <a:spcAft>
                <a:spcPts val="1000"/>
              </a:spcAft>
              <a:defRPr sz="1100"/>
            </a:pPr>
            <a:r>
              <a:t>  • Team Leader: 'Run Harmony' → Integration Agent: 'Select convergence criteria'</a:t>
            </a:r>
          </a:p>
          <a:p>
            <a:pPr>
              <a:spcAft>
                <a:spcPts val="1000"/>
              </a:spcAft>
              <a:defRPr sz="1100"/>
            </a:pPr>
            <a:r>
              <a:t>  • Agent autonomously decided: 11 iterations sufficient (converged)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Escalation Protocols &amp; Problem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80000"/>
                </a:solidFill>
              </a:defRPr>
            </a:pPr>
            <a:r>
              <a:t>When and How Agents Escalate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4B464"/>
                </a:solidFill>
              </a:defRPr>
            </a:pPr>
            <a:r>
              <a:t>Normal Operation (No Escalation)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371600" cy="457200"/>
          </a:xfrm>
          <a:prstGeom prst="roundRect">
            <a:avLst/>
          </a:prstGeom>
          <a:solidFill>
            <a:srgbClr val="64B4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L3: Agent</a:t>
            </a:r>
          </a:p>
          <a:p>
            <a:r>
              <a:t>Executes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11680" y="2423160"/>
            <a:ext cx="4572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68880" y="2194560"/>
            <a:ext cx="1371600" cy="457200"/>
          </a:xfrm>
          <a:prstGeom prst="roundRect">
            <a:avLst/>
          </a:prstGeom>
          <a:solidFill>
            <a:srgbClr val="64B4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Success ✓</a:t>
            </a:r>
          </a:p>
          <a:p>
            <a:r>
              <a:t>Reports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896C8"/>
                </a:solidFill>
              </a:defRPr>
            </a:pPr>
            <a:r>
              <a:t>Scenario 1: Local Issue (Agent Handles)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/>
            </a:pPr>
            <a:r>
              <a:t>Issue: Parameter suboptimal</a:t>
            </a:r>
          </a:p>
          <a:p>
            <a:pPr>
              <a:spcAft>
                <a:spcPts val="1000"/>
              </a:spcAft>
              <a:defRPr sz="1000"/>
            </a:pPr>
            <a:r>
              <a:t>Agent: Adjusts within range</a:t>
            </a:r>
          </a:p>
          <a:p>
            <a:pPr>
              <a:spcAft>
                <a:spcPts val="1000"/>
              </a:spcAft>
              <a:defRPr sz="1000"/>
            </a:pPr>
            <a:r>
              <a:t>Example: Integration agent</a:t>
            </a:r>
          </a:p>
          <a:p>
            <a:pPr>
              <a:spcAft>
                <a:spcPts val="1000"/>
              </a:spcAft>
              <a:defRPr sz="1000"/>
            </a:pPr>
            <a:r>
              <a:t>  increases iterations 10→11</a:t>
            </a:r>
          </a:p>
          <a:p>
            <a:pPr>
              <a:spcAft>
                <a:spcPts val="1000"/>
              </a:spcAft>
              <a:defRPr sz="1000"/>
            </a:pPr>
            <a:r>
              <a:t>Result: Resolved locally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6699"/>
                </a:solidFill>
              </a:defRPr>
            </a:pPr>
            <a:r>
              <a:t>Scenario 2: Team-Level Issue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194560"/>
            <a:ext cx="1188720" cy="411480"/>
          </a:xfrm>
          <a:prstGeom prst="roundRect">
            <a:avLst/>
          </a:prstGeom>
          <a:solidFill>
            <a:srgbClr val="FF969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L3: Problem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0" y="2400300"/>
            <a:ext cx="274320" cy="0"/>
          </a:xfrm>
          <a:prstGeom prst="line">
            <a:avLst/>
          </a:prstGeom>
          <a:ln w="25400">
            <a:solidFill>
              <a:srgbClr val="C8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17920" y="2194560"/>
            <a:ext cx="1188720" cy="411480"/>
          </a:xfrm>
          <a:prstGeom prst="roundRect">
            <a:avLst/>
          </a:prstGeom>
          <a:solidFill>
            <a:srgbClr val="336699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L2: Evaluate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06640" y="2400300"/>
            <a:ext cx="27432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680960" y="2194560"/>
            <a:ext cx="822960" cy="411480"/>
          </a:xfrm>
          <a:prstGeom prst="roundRect">
            <a:avLst/>
          </a:prstGeom>
          <a:solidFill>
            <a:srgbClr val="96FF9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743200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/>
            </a:pPr>
            <a:r>
              <a:t>Example: Annotation loading slow</a:t>
            </a:r>
          </a:p>
          <a:p>
            <a:pPr>
              <a:spcAft>
                <a:spcPts val="1000"/>
              </a:spcAft>
              <a:defRPr sz="1000"/>
            </a:pPr>
            <a:r>
              <a:t>Agent: Can't resolve (memory limit)</a:t>
            </a:r>
          </a:p>
          <a:p>
            <a:pPr>
              <a:spcAft>
                <a:spcPts val="1000"/>
              </a:spcAft>
              <a:defRPr sz="1000"/>
            </a:pPr>
            <a:r>
              <a:t>→ Escalate to Analysis Team Leader</a:t>
            </a:r>
          </a:p>
          <a:p>
            <a:pPr>
              <a:spcAft>
                <a:spcPts val="1000"/>
              </a:spcAft>
              <a:defRPr sz="1000"/>
            </a:pPr>
            <a:r>
              <a:t>Team Leader: Redesign strategy</a:t>
            </a:r>
          </a:p>
          <a:p>
            <a:pPr>
              <a:spcAft>
                <a:spcPts val="1000"/>
              </a:spcAft>
              <a:defRPr sz="1000"/>
            </a:pPr>
            <a:r>
              <a:t>  'Use backed mode instead'</a:t>
            </a:r>
          </a:p>
          <a:p>
            <a:pPr>
              <a:spcAft>
                <a:spcPts val="1000"/>
              </a:spcAft>
              <a:defRPr sz="1000"/>
            </a:pPr>
            <a:r>
              <a:t>→ Delegate back with new approach</a:t>
            </a:r>
          </a:p>
          <a:p>
            <a:pPr>
              <a:spcAft>
                <a:spcPts val="1000"/>
              </a:spcAft>
              <a:defRPr sz="1000"/>
            </a:pPr>
            <a:r>
              <a:t>Result: Resolved at team level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Scenario 3: Strategic Issue (Escalate to Chief)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5212080"/>
            <a:ext cx="1097280" cy="365760"/>
          </a:xfrm>
          <a:prstGeom prst="roundRect">
            <a:avLst/>
          </a:prstGeom>
          <a:solidFill>
            <a:srgbClr val="FF64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L3:</a:t>
            </a:r>
          </a:p>
          <a:p>
            <a:r>
              <a:t>Critical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68880" y="5394960"/>
            <a:ext cx="457200" cy="0"/>
          </a:xfrm>
          <a:prstGeom prst="line">
            <a:avLst/>
          </a:prstGeom>
          <a:ln w="31750">
            <a:solidFill>
              <a:srgbClr val="C8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926080" y="5212080"/>
            <a:ext cx="1097280" cy="365760"/>
          </a:xfrm>
          <a:prstGeom prst="roundRect">
            <a:avLst/>
          </a:prstGeom>
          <a:solidFill>
            <a:srgbClr val="336699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L2:</a:t>
            </a:r>
          </a:p>
          <a:p>
            <a:r>
              <a:t>Escalate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023360" y="5394960"/>
            <a:ext cx="457200" cy="0"/>
          </a:xfrm>
          <a:prstGeom prst="line">
            <a:avLst/>
          </a:prstGeom>
          <a:ln w="31750">
            <a:solidFill>
              <a:srgbClr val="C8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480560" y="5212080"/>
            <a:ext cx="1371600" cy="365760"/>
          </a:xfrm>
          <a:prstGeom prst="roundRect">
            <a:avLst/>
          </a:prstGeom>
          <a:solidFill>
            <a:srgbClr val="00336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L1: Strategic</a:t>
            </a:r>
          </a:p>
          <a:p>
            <a:r>
              <a:t>Decision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852160" y="5394960"/>
            <a:ext cx="4572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09360" y="5212080"/>
            <a:ext cx="1371600" cy="365760"/>
          </a:xfrm>
          <a:prstGeom prst="roundRect">
            <a:avLst/>
          </a:prstGeom>
          <a:solidFill>
            <a:srgbClr val="64FF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New 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7607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/>
            </a:pPr>
            <a:r>
              <a:t>Example: Batch correction quality poor after Harmony</a:t>
            </a:r>
          </a:p>
          <a:p>
            <a:pPr>
              <a:spcAft>
                <a:spcPts val="1000"/>
              </a:spcAft>
              <a:defRPr sz="1100"/>
            </a:pPr>
            <a:r>
              <a:t>→ Team Leader can't fix with parameter tuning</a:t>
            </a:r>
          </a:p>
          <a:p>
            <a:pPr>
              <a:spcAft>
                <a:spcPts val="1000"/>
              </a:spcAft>
              <a:defRPr sz="1100"/>
            </a:pPr>
            <a:r>
              <a:t>→ Escalate to Chief Orchestrator</a:t>
            </a:r>
          </a:p>
          <a:p>
            <a:pPr>
              <a:spcAft>
                <a:spcPts val="1000"/>
              </a:spcAft>
              <a:defRPr sz="1100"/>
            </a:pPr>
            <a:r>
              <a:t>Chief: 'Try alternative method (Seurat CCA)' or 'Accept current quality'</a:t>
            </a:r>
          </a:p>
          <a:p>
            <a:pPr>
              <a:spcAft>
                <a:spcPts val="1000"/>
              </a:spcAft>
              <a:defRPr sz="1100"/>
            </a:pPr>
            <a:r>
              <a:t>Result: Strategic decision made at appropriate level 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0000"/>
                </a:solidFill>
              </a:defRPr>
            </a:pPr>
            <a:r>
              <a:t>Escalation Rule: Handle at lowest level possible, escalate only when necessary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Hierarchical Resource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/>
            </a:pPr>
            <a:r>
              <a:t>Chief Orchestrator (Level 1) allocates:</a:t>
            </a:r>
          </a:p>
          <a:p>
            <a:pPr>
              <a:spcAft>
                <a:spcPts val="1000"/>
              </a:spcAft>
              <a:defRPr sz="1000"/>
            </a:pPr>
          </a:p>
          <a:p>
            <a:pPr>
              <a:spcAft>
                <a:spcPts val="1000"/>
              </a:spcAft>
              <a:defRPr sz="1000"/>
            </a:pPr>
            <a:r>
              <a:t>1. Computational Resources:</a:t>
            </a:r>
          </a:p>
          <a:p>
            <a:pPr>
              <a:spcAft>
                <a:spcPts val="1000"/>
              </a:spcAft>
              <a:defRPr sz="1000"/>
            </a:pPr>
            <a:r>
              <a:t>   • Total budget: 90 minutes analysis time</a:t>
            </a:r>
          </a:p>
          <a:p>
            <a:pPr>
              <a:spcAft>
                <a:spcPts val="1000"/>
              </a:spcAft>
              <a:defRPr sz="1000"/>
            </a:pPr>
            <a:r>
              <a:t>   • Data Team: 10 min (QC + preprocessing)</a:t>
            </a:r>
          </a:p>
          <a:p>
            <a:pPr>
              <a:spcAft>
                <a:spcPts val="1000"/>
              </a:spcAft>
              <a:defRPr sz="1000"/>
            </a:pPr>
            <a:r>
              <a:t>   • Analysis Team: 50 min (PCA + Harmony + Clustering)</a:t>
            </a:r>
          </a:p>
          <a:p>
            <a:pPr>
              <a:spcAft>
                <a:spcPts val="1000"/>
              </a:spcAft>
              <a:defRPr sz="1000"/>
            </a:pPr>
            <a:r>
              <a:t>   • Output Team: 30 min (Annotation + Visualization + Reports)</a:t>
            </a:r>
          </a:p>
          <a:p>
            <a:pPr>
              <a:spcAft>
                <a:spcPts val="1000"/>
              </a:spcAft>
              <a:defRPr sz="1000"/>
            </a:pPr>
          </a:p>
          <a:p>
            <a:pPr>
              <a:spcAft>
                <a:spcPts val="1000"/>
              </a:spcAft>
              <a:defRPr sz="1000"/>
            </a:pPr>
            <a:r>
              <a:t>2. Memory Allocation:</a:t>
            </a:r>
          </a:p>
          <a:p>
            <a:pPr>
              <a:spcAft>
                <a:spcPts val="1000"/>
              </a:spcAft>
              <a:defRPr sz="1000"/>
            </a:pPr>
            <a:r>
              <a:t>   • Large dataset → Analysis Team gets priority</a:t>
            </a:r>
          </a:p>
          <a:p>
            <a:pPr>
              <a:spcAft>
                <a:spcPts val="1000"/>
              </a:spcAft>
              <a:defRPr sz="1000"/>
            </a:pPr>
            <a:r>
              <a:t>   • Integration Agent: Up to 100GB for Harmony</a:t>
            </a:r>
          </a:p>
          <a:p>
            <a:pPr>
              <a:spcAft>
                <a:spcPts val="1000"/>
              </a:spcAft>
              <a:defRPr sz="1000"/>
            </a:pPr>
            <a:r>
              <a:t>   • Visualization Agent: Backed mode to save memory</a:t>
            </a:r>
          </a:p>
          <a:p>
            <a:pPr>
              <a:spcAft>
                <a:spcPts val="1000"/>
              </a:spcAft>
              <a:defRPr sz="1000"/>
            </a:pPr>
          </a:p>
          <a:p>
            <a:pPr>
              <a:spcAft>
                <a:spcPts val="1000"/>
              </a:spcAft>
              <a:defRPr sz="1000"/>
            </a:pPr>
            <a:r>
              <a:t>3. CPU/GPU Resources:</a:t>
            </a:r>
          </a:p>
          <a:p>
            <a:pPr>
              <a:spcAft>
                <a:spcPts val="1000"/>
              </a:spcAft>
              <a:defRPr sz="1000"/>
            </a:pPr>
            <a:r>
              <a:t>   • Parallel tasks: Visualization agents (6 plots simultaneously)</a:t>
            </a:r>
          </a:p>
          <a:p>
            <a:pPr>
              <a:spcAft>
                <a:spcPts val="1000"/>
              </a:spcAft>
              <a:defRPr sz="1000"/>
            </a:pPr>
            <a:r>
              <a:t>   • Sequential tasks: Must wait (Harmony before Clustering)</a:t>
            </a:r>
          </a:p>
          <a:p>
            <a:pPr>
              <a:spcAft>
                <a:spcPts val="1000"/>
              </a:spcAft>
              <a:defRPr sz="1000"/>
            </a:pPr>
          </a:p>
          <a:p>
            <a:pPr>
              <a:spcAft>
                <a:spcPts val="1000"/>
              </a:spcAft>
              <a:defRPr sz="1000"/>
            </a:pPr>
            <a:r>
              <a:t>Team Leaders (Level 2) optimize within allocation:</a:t>
            </a:r>
          </a:p>
          <a:p>
            <a:pPr>
              <a:spcAft>
                <a:spcPts val="1000"/>
              </a:spcAft>
              <a:defRPr sz="1000"/>
            </a:pPr>
          </a:p>
          <a:p>
            <a:pPr>
              <a:spcAft>
                <a:spcPts val="1000"/>
              </a:spcAft>
              <a:defRPr sz="1000"/>
            </a:pPr>
            <a:r>
              <a:t>Analysis Team Leader:</a:t>
            </a:r>
          </a:p>
          <a:p>
            <a:pPr>
              <a:spcAft>
                <a:spcPts val="1000"/>
              </a:spcAft>
              <a:defRPr sz="1000"/>
            </a:pPr>
            <a:r>
              <a:t>  • Allocates 30 min for Harmony (11 iterations)</a:t>
            </a:r>
          </a:p>
          <a:p>
            <a:pPr>
              <a:spcAft>
                <a:spcPts val="1000"/>
              </a:spcAft>
              <a:defRPr sz="1000"/>
            </a:pPr>
            <a:r>
              <a:t>  • Reserves 10 min for clustering (4 resolutions tested)</a:t>
            </a:r>
          </a:p>
          <a:p>
            <a:pPr>
              <a:spcAft>
                <a:spcPts val="1000"/>
              </a:spcAft>
              <a:defRPr sz="1000"/>
            </a:pPr>
            <a:r>
              <a:t>  • UMAP generation: 8 min</a:t>
            </a:r>
          </a:p>
          <a:p>
            <a:pPr>
              <a:spcAft>
                <a:spcPts val="1000"/>
              </a:spcAft>
              <a:defRPr sz="1000"/>
            </a:pPr>
          </a:p>
          <a:p>
            <a:pPr>
              <a:spcAft>
                <a:spcPts val="1000"/>
              </a:spcAft>
              <a:defRPr sz="1000"/>
            </a:pPr>
            <a:r>
              <a:t>Output Team Leader:</a:t>
            </a:r>
          </a:p>
          <a:p>
            <a:pPr>
              <a:spcAft>
                <a:spcPts val="1000"/>
              </a:spcAft>
              <a:defRPr sz="1000"/>
            </a:pPr>
            <a:r>
              <a:t>  • Annotation: High priority (15 min)</a:t>
            </a:r>
          </a:p>
          <a:p>
            <a:pPr>
              <a:spcAft>
                <a:spcPts val="1000"/>
              </a:spcAft>
              <a:defRPr sz="1000"/>
            </a:pPr>
            <a:r>
              <a:t>  • Visualization: Parallel execution (10 min for all plots)</a:t>
            </a:r>
          </a:p>
          <a:p>
            <a:pPr>
              <a:spcAft>
                <a:spcPts val="1000"/>
              </a:spcAft>
              <a:defRPr sz="1000"/>
            </a:pPr>
            <a:r>
              <a:t>  • Reports: Low priority, can run in background (5 min)</a:t>
            </a:r>
          </a:p>
          <a:p>
            <a:pPr>
              <a:spcAft>
                <a:spcPts val="1000"/>
              </a:spcAft>
              <a:defRPr sz="1000"/>
            </a:pPr>
          </a:p>
          <a:p>
            <a:pPr>
              <a:spcAft>
                <a:spcPts val="1000"/>
              </a:spcAft>
              <a:defRPr sz="1000"/>
            </a:pPr>
            <a:r>
              <a:t>Specialist Agents (Level 3) work within constraints:</a:t>
            </a:r>
          </a:p>
          <a:p>
            <a:pPr>
              <a:spcAft>
                <a:spcPts val="1000"/>
              </a:spcAft>
              <a:defRPr sz="1000"/>
            </a:pPr>
            <a:r>
              <a:t>  • Integration Agent: Optimize Harmony iterations for time limit</a:t>
            </a:r>
          </a:p>
          <a:p>
            <a:pPr>
              <a:spcAft>
                <a:spcPts val="1000"/>
              </a:spcAft>
              <a:defRPr sz="1000"/>
            </a:pPr>
            <a:r>
              <a:t>  • Visualization Agent: Generate 6 plots in parallel within 10 min</a:t>
            </a:r>
          </a:p>
          <a:p>
            <a:pPr>
              <a:spcAft>
                <a:spcPts val="1000"/>
              </a:spcAft>
              <a:defRPr sz="1000"/>
            </a:pPr>
          </a:p>
          <a:p>
            <a:pPr>
              <a:spcAft>
                <a:spcPts val="1000"/>
              </a:spcAft>
              <a:defRPr sz="1000"/>
            </a:pPr>
            <a:r>
              <a:t>Actual Results:</a:t>
            </a:r>
          </a:p>
          <a:p>
            <a:pPr>
              <a:spcAft>
                <a:spcPts val="1000"/>
              </a:spcAft>
              <a:defRPr sz="1000"/>
            </a:pPr>
            <a:r>
              <a:t>  ✓ Completed in 90 minutes (on budget)</a:t>
            </a:r>
          </a:p>
          <a:p>
            <a:pPr>
              <a:spcAft>
                <a:spcPts val="1000"/>
              </a:spcAft>
              <a:defRPr sz="1000"/>
            </a:pPr>
            <a:r>
              <a:t>  ✓ No resource conflicts</a:t>
            </a:r>
          </a:p>
          <a:p>
            <a:pPr>
              <a:spcAft>
                <a:spcPts val="1000"/>
              </a:spcAft>
              <a:defRPr sz="1000"/>
            </a:pPr>
            <a:r>
              <a:t>  ✓ Optimal allocation achieved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Quality Control at Every Hierarchy Level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560320" cy="731520"/>
          </a:xfrm>
          <a:prstGeom prst="roundRect">
            <a:avLst/>
          </a:prstGeom>
          <a:solidFill>
            <a:srgbClr val="64B4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L3: Agent Quality Checks</a:t>
            </a:r>
          </a:p>
          <a:p>
            <a:r>
              <a:t>• Input validation</a:t>
            </a:r>
          </a:p>
          <a:p>
            <a:r>
              <a:t>• Algorithm convergence</a:t>
            </a:r>
          </a:p>
          <a:p>
            <a:r>
              <a:t>• Output format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/>
            </a:pPr>
            <a:r>
              <a:t>Examples:</a:t>
            </a:r>
          </a:p>
          <a:p>
            <a:pPr>
              <a:spcAft>
                <a:spcPts val="1000"/>
              </a:spcAft>
              <a:defRPr sz="900"/>
            </a:pPr>
            <a:r>
              <a:t>• QC Agent: Check min cells/gene</a:t>
            </a:r>
          </a:p>
          <a:p>
            <a:pPr>
              <a:spcAft>
                <a:spcPts val="1000"/>
              </a:spcAft>
              <a:defRPr sz="900"/>
            </a:pPr>
            <a:r>
              <a:t>• Integration Agent: Harmony converged?</a:t>
            </a:r>
          </a:p>
          <a:p>
            <a:pPr>
              <a:spcAft>
                <a:spcPts val="1000"/>
              </a:spcAft>
              <a:defRPr sz="900"/>
            </a:pPr>
            <a:r>
              <a:t>• Clustering Agent: Modularity score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645920"/>
            <a:ext cx="2560320" cy="731520"/>
          </a:xfrm>
          <a:prstGeom prst="roundRect">
            <a:avLst/>
          </a:prstGeom>
          <a:solidFill>
            <a:srgbClr val="336699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L2: Team Quality Gates</a:t>
            </a:r>
          </a:p>
          <a:p>
            <a:r>
              <a:t>• Cross-agent consistency</a:t>
            </a:r>
          </a:p>
          <a:p>
            <a:r>
              <a:t>• Team objectives met</a:t>
            </a:r>
          </a:p>
          <a:p>
            <a:r>
              <a:t>• Handoff readiness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/>
            </a:pPr>
            <a:r>
              <a:t>Examples:</a:t>
            </a:r>
          </a:p>
          <a:p>
            <a:pPr>
              <a:spcAft>
                <a:spcPts val="1000"/>
              </a:spcAft>
              <a:defRPr sz="900"/>
            </a:pPr>
            <a:r>
              <a:t>• Data Team: HVGs identified correctly?</a:t>
            </a:r>
          </a:p>
          <a:p>
            <a:pPr>
              <a:spcAft>
                <a:spcPts val="1000"/>
              </a:spcAft>
              <a:defRPr sz="900"/>
            </a:pPr>
            <a:r>
              <a:t>• Analysis Team: Batch effects removed?</a:t>
            </a:r>
          </a:p>
          <a:p>
            <a:pPr>
              <a:spcAft>
                <a:spcPts val="1000"/>
              </a:spcAft>
              <a:defRPr sz="900"/>
            </a:pPr>
            <a:r>
              <a:t>• Output Team: All plots generated?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60320" cy="731520"/>
          </a:xfrm>
          <a:prstGeom prst="roundRect">
            <a:avLst/>
          </a:prstGeom>
          <a:solidFill>
            <a:srgbClr val="00336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L1: Strategic Validation</a:t>
            </a:r>
          </a:p>
          <a:p>
            <a:r>
              <a:t>• Analysis goals achieved</a:t>
            </a:r>
          </a:p>
          <a:p>
            <a:r>
              <a:t>• Scientific validity</a:t>
            </a:r>
          </a:p>
          <a:p>
            <a:r>
              <a:t>• Deliverable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/>
            </a:pPr>
            <a:r>
              <a:t>Examples:</a:t>
            </a:r>
          </a:p>
          <a:p>
            <a:pPr>
              <a:spcAft>
                <a:spcPts val="1000"/>
              </a:spcAft>
              <a:defRPr sz="900"/>
            </a:pPr>
            <a:r>
              <a:t>• Cell types biologically valid?</a:t>
            </a:r>
          </a:p>
          <a:p>
            <a:pPr>
              <a:spcAft>
                <a:spcPts val="1000"/>
              </a:spcAft>
              <a:defRPr sz="900"/>
            </a:pPr>
            <a:r>
              <a:t>• Integration quality acceptable?</a:t>
            </a:r>
          </a:p>
          <a:p>
            <a:pPr>
              <a:spcAft>
                <a:spcPts val="1000"/>
              </a:spcAft>
              <a:defRPr sz="900"/>
            </a:pPr>
            <a:r>
              <a:t>• Publication-ready outputs?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6400"/>
                </a:solidFill>
              </a:defRPr>
            </a:pPr>
            <a:r>
              <a:t>Quality Assurance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/>
            </a:pPr>
            <a:r>
              <a:t>1. Continuous Monitoring (Support Systems):</a:t>
            </a:r>
          </a:p>
          <a:p>
            <a:pPr>
              <a:spcAft>
                <a:spcPts val="1000"/>
              </a:spcAft>
              <a:defRPr sz="1100"/>
            </a:pPr>
            <a:r>
              <a:t>   • Task Manager tracks completion status</a:t>
            </a:r>
          </a:p>
          <a:p>
            <a:pPr>
              <a:spcAft>
                <a:spcPts val="1000"/>
              </a:spcAft>
              <a:defRPr sz="1100"/>
            </a:pPr>
            <a:r>
              <a:t>   • Quality Monitor checks metrics in real-time</a:t>
            </a:r>
          </a:p>
          <a:p>
            <a:pPr>
              <a:spcAft>
                <a:spcPts val="1000"/>
              </a:spcAft>
              <a:defRPr sz="1100"/>
            </a:pPr>
            <a:r>
              <a:t>   • Alerts sent to appropriate level on issues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2. Stage Gates (Between Teams):</a:t>
            </a:r>
          </a:p>
          <a:p>
            <a:pPr>
              <a:spcAft>
                <a:spcPts val="1000"/>
              </a:spcAft>
              <a:defRPr sz="1100"/>
            </a:pPr>
            <a:r>
              <a:t>   • Data Team complete → Analysis Team can start</a:t>
            </a:r>
          </a:p>
          <a:p>
            <a:pPr>
              <a:spcAft>
                <a:spcPts val="1000"/>
              </a:spcAft>
              <a:defRPr sz="1100"/>
            </a:pPr>
            <a:r>
              <a:t>   • Gate check: Data quality meets requirements?</a:t>
            </a:r>
          </a:p>
          <a:p>
            <a:pPr>
              <a:spcAft>
                <a:spcPts val="1000"/>
              </a:spcAft>
              <a:defRPr sz="1100"/>
            </a:pPr>
            <a:r>
              <a:t>   • If NO: Data Team must remediate</a:t>
            </a:r>
          </a:p>
          <a:p>
            <a:pPr>
              <a:spcAft>
                <a:spcPts val="1000"/>
              </a:spcAft>
              <a:defRPr sz="1100"/>
            </a:pPr>
            <a:r>
              <a:t>   • If YES: Proceed to next stage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3. Final Validation (Chief Orchestrator):</a:t>
            </a:r>
          </a:p>
          <a:p>
            <a:pPr>
              <a:spcAft>
                <a:spcPts val="1000"/>
              </a:spcAft>
              <a:defRPr sz="1100"/>
            </a:pPr>
            <a:r>
              <a:t>   • Review all outputs holistically</a:t>
            </a:r>
          </a:p>
          <a:p>
            <a:pPr>
              <a:spcAft>
                <a:spcPts val="1000"/>
              </a:spcAft>
              <a:defRPr sz="1100"/>
            </a:pPr>
            <a:r>
              <a:t>   • Biological interpretation makes sense?</a:t>
            </a:r>
          </a:p>
          <a:p>
            <a:pPr>
              <a:spcAft>
                <a:spcPts val="1000"/>
              </a:spcAft>
              <a:defRPr sz="1100"/>
            </a:pPr>
            <a:r>
              <a:t>   • Cell type annotations consistent with literature?</a:t>
            </a:r>
          </a:p>
          <a:p>
            <a:pPr>
              <a:spcAft>
                <a:spcPts val="1000"/>
              </a:spcAft>
              <a:defRPr sz="1100"/>
            </a:pPr>
            <a:r>
              <a:t>   • Publication standards met?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Our Analysis Quality Results:</a:t>
            </a:r>
          </a:p>
          <a:p>
            <a:pPr>
              <a:spcAft>
                <a:spcPts val="1000"/>
              </a:spcAft>
              <a:defRPr sz="1100"/>
            </a:pPr>
            <a:r>
              <a:t>  ✓ L3: All agents passed internal checks</a:t>
            </a:r>
          </a:p>
          <a:p>
            <a:pPr>
              <a:spcAft>
                <a:spcPts val="1000"/>
              </a:spcAft>
              <a:defRPr sz="1100"/>
            </a:pPr>
            <a:r>
              <a:t>  ✓ L2: All team gates passed on first attempt</a:t>
            </a:r>
          </a:p>
          <a:p>
            <a:pPr>
              <a:spcAft>
                <a:spcPts val="1000"/>
              </a:spcAft>
              <a:defRPr sz="1100"/>
            </a:pPr>
            <a:r>
              <a:t>  ✓ L1: Final validation approved</a:t>
            </a:r>
          </a:p>
          <a:p>
            <a:pPr>
              <a:spcAft>
                <a:spcPts val="1000"/>
              </a:spcAft>
              <a:defRPr sz="1100"/>
            </a:pPr>
            <a:r>
              <a:t>  ✓ Zero rework required</a:t>
            </a:r>
          </a:p>
          <a:p>
            <a:pPr>
              <a:spcAft>
                <a:spcPts val="1000"/>
              </a:spcAft>
              <a:defRPr sz="1100"/>
            </a:pPr>
            <a:r>
              <a:t>  ✓ 100% success rate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Communication Patterns in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/>
            </a:pPr>
            <a:r>
              <a:t>1. Vertical Communication (Up/Down Chain of Command):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Downward (Strategy → Execution):</a:t>
            </a:r>
          </a:p>
          <a:p>
            <a:pPr>
              <a:spcAft>
                <a:spcPts val="1000"/>
              </a:spcAft>
              <a:defRPr sz="1100"/>
            </a:pPr>
            <a:r>
              <a:t>  Chief → Team Leader: 'Integrate using Harmony with 30-50 PCs'</a:t>
            </a:r>
          </a:p>
          <a:p>
            <a:pPr>
              <a:spcAft>
                <a:spcPts val="1000"/>
              </a:spcAft>
              <a:defRPr sz="1100"/>
            </a:pPr>
            <a:r>
              <a:t>  Team Leader → Agent: 'Run Harmony on 40 PCs'</a:t>
            </a:r>
          </a:p>
          <a:p>
            <a:pPr>
              <a:spcAft>
                <a:spcPts val="1000"/>
              </a:spcAft>
              <a:defRPr sz="1100"/>
            </a:pPr>
            <a:r>
              <a:t>  • Clear directives</a:t>
            </a:r>
          </a:p>
          <a:p>
            <a:pPr>
              <a:spcAft>
                <a:spcPts val="1000"/>
              </a:spcAft>
              <a:defRPr sz="1100"/>
            </a:pPr>
            <a:r>
              <a:t>  • Resource allocation</a:t>
            </a:r>
          </a:p>
          <a:p>
            <a:pPr>
              <a:spcAft>
                <a:spcPts val="1000"/>
              </a:spcAft>
              <a:defRPr sz="1100"/>
            </a:pPr>
            <a:r>
              <a:t>  • Priority setting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Upward (Reporting):</a:t>
            </a:r>
          </a:p>
          <a:p>
            <a:pPr>
              <a:spcAft>
                <a:spcPts val="1000"/>
              </a:spcAft>
              <a:defRPr sz="1100"/>
            </a:pPr>
            <a:r>
              <a:t>  Agent → Team Leader: 'Harmony converged in 11 iterations'</a:t>
            </a:r>
          </a:p>
          <a:p>
            <a:pPr>
              <a:spcAft>
                <a:spcPts val="1000"/>
              </a:spcAft>
              <a:defRPr sz="1100"/>
            </a:pPr>
            <a:r>
              <a:t>  Team Leader → Chief: 'Integration complete, batch effects removed'</a:t>
            </a:r>
          </a:p>
          <a:p>
            <a:pPr>
              <a:spcAft>
                <a:spcPts val="1000"/>
              </a:spcAft>
              <a:defRPr sz="1100"/>
            </a:pPr>
            <a:r>
              <a:t>  • Status updates</a:t>
            </a:r>
          </a:p>
          <a:p>
            <a:pPr>
              <a:spcAft>
                <a:spcPts val="1000"/>
              </a:spcAft>
              <a:defRPr sz="1100"/>
            </a:pPr>
            <a:r>
              <a:t>  • Results and metrics</a:t>
            </a:r>
          </a:p>
          <a:p>
            <a:pPr>
              <a:spcAft>
                <a:spcPts val="1000"/>
              </a:spcAft>
              <a:defRPr sz="1100"/>
            </a:pPr>
            <a:r>
              <a:t>  • Issues requiring escalation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2. Horizontal Communication (Within Team):</a:t>
            </a:r>
          </a:p>
          <a:p>
            <a:pPr>
              <a:spcAft>
                <a:spcPts val="1000"/>
              </a:spcAft>
              <a:defRPr sz="1100"/>
            </a:pPr>
            <a:r>
              <a:t>  QC Agent ↔ Processing Agent: 'Filtered cells ready for normalization'</a:t>
            </a:r>
          </a:p>
          <a:p>
            <a:pPr>
              <a:spcAft>
                <a:spcPts val="1000"/>
              </a:spcAft>
              <a:defRPr sz="1100"/>
            </a:pPr>
            <a:r>
              <a:t>  Integration ↔ Clustering: 'PC embeddings available'</a:t>
            </a:r>
          </a:p>
          <a:p>
            <a:pPr>
              <a:spcAft>
                <a:spcPts val="1000"/>
              </a:spcAft>
              <a:defRPr sz="1100"/>
            </a:pPr>
            <a:r>
              <a:t>  • Peer-to-peer data exchange</a:t>
            </a:r>
          </a:p>
          <a:p>
            <a:pPr>
              <a:spcAft>
                <a:spcPts val="1000"/>
              </a:spcAft>
              <a:defRPr sz="1100"/>
            </a:pPr>
            <a:r>
              <a:t>  • Coordinated task handoffs</a:t>
            </a:r>
          </a:p>
          <a:p>
            <a:pPr>
              <a:spcAft>
                <a:spcPts val="1000"/>
              </a:spcAft>
              <a:defRPr sz="1100"/>
            </a:pPr>
            <a:r>
              <a:t>  • Team Leader facilitates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3. Cross-Team Communication (Via Chief):</a:t>
            </a:r>
          </a:p>
          <a:p>
            <a:pPr>
              <a:spcAft>
                <a:spcPts val="1000"/>
              </a:spcAft>
              <a:defRPr sz="1100"/>
            </a:pPr>
            <a:r>
              <a:t>  Data Team → Chief → Analysis Team</a:t>
            </a:r>
          </a:p>
          <a:p>
            <a:pPr>
              <a:spcAft>
                <a:spcPts val="1000"/>
              </a:spcAft>
              <a:defRPr sz="1100"/>
            </a:pPr>
            <a:r>
              <a:t>  Analysis Team → Chief → Output Team</a:t>
            </a:r>
          </a:p>
          <a:p>
            <a:pPr>
              <a:spcAft>
                <a:spcPts val="1000"/>
              </a:spcAft>
              <a:defRPr sz="1100"/>
            </a:pPr>
            <a:r>
              <a:t>  • Prevents confusion</a:t>
            </a:r>
          </a:p>
          <a:p>
            <a:pPr>
              <a:spcAft>
                <a:spcPts val="1000"/>
              </a:spcAft>
              <a:defRPr sz="1100"/>
            </a:pPr>
            <a:r>
              <a:t>  • Chief maintains global view</a:t>
            </a:r>
          </a:p>
          <a:p>
            <a:pPr>
              <a:spcAft>
                <a:spcPts val="1000"/>
              </a:spcAft>
              <a:defRPr sz="1100"/>
            </a:pPr>
            <a:r>
              <a:t>  • Ensures proper sequencing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4. Broadcast Communication:</a:t>
            </a:r>
          </a:p>
          <a:p>
            <a:pPr>
              <a:spcAft>
                <a:spcPts val="1000"/>
              </a:spcAft>
              <a:defRPr sz="1100"/>
            </a:pPr>
            <a:r>
              <a:t>  Chief → All Teams: 'Use 40 PCs for all downstream analysis'</a:t>
            </a:r>
          </a:p>
          <a:p>
            <a:pPr>
              <a:spcAft>
                <a:spcPts val="1000"/>
              </a:spcAft>
              <a:defRPr sz="1100"/>
            </a:pPr>
            <a:r>
              <a:t>  Task Manager → All Agents: 'Analysis 50% complete'</a:t>
            </a:r>
          </a:p>
          <a:p>
            <a:pPr>
              <a:spcAft>
                <a:spcPts val="1000"/>
              </a:spcAft>
              <a:defRPr sz="1100"/>
            </a:pPr>
            <a:r>
              <a:t>  • System-wide updates</a:t>
            </a:r>
          </a:p>
          <a:p>
            <a:pPr>
              <a:spcAft>
                <a:spcPts val="1000"/>
              </a:spcAft>
              <a:defRPr sz="1100"/>
            </a:pPr>
            <a:r>
              <a:t>  • Configuration changes</a:t>
            </a:r>
          </a:p>
          <a:p>
            <a:pPr>
              <a:spcAft>
                <a:spcPts val="1000"/>
              </a:spcAft>
              <a:defRPr sz="1100"/>
            </a:pPr>
            <a:r>
              <a:t>  • Progress notifications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Case Study: Hierarchical Execution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Complete Analysis with Hierarchical Coordination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/>
            </a:pPr>
            <a:r>
              <a:t>[00:00] L1 Chief: Initialize analysis of Spleen.h5ad</a:t>
            </a:r>
          </a:p>
          <a:p>
            <a:pPr>
              <a:spcAft>
                <a:spcPts val="1000"/>
              </a:spcAft>
              <a:defRPr sz="900"/>
            </a:pPr>
            <a:r>
              <a:t>        └─ Create teams, allocate resources, set goals</a:t>
            </a:r>
          </a:p>
          <a:p>
            <a:pPr>
              <a:spcAft>
                <a:spcPts val="1000"/>
              </a:spcAft>
              <a:defRPr sz="900"/>
            </a:pPr>
          </a:p>
          <a:p>
            <a:pPr>
              <a:spcAft>
                <a:spcPts val="1000"/>
              </a:spcAft>
              <a:defRPr sz="900"/>
            </a:pPr>
            <a:r>
              <a:t>[00:01] L1 → L2: Directive to Data Team Lead: 'Process data, filter doublets'</a:t>
            </a:r>
          </a:p>
          <a:p>
            <a:pPr>
              <a:spcAft>
                <a:spcPts val="1000"/>
              </a:spcAft>
              <a:defRPr sz="900"/>
            </a:pPr>
            <a:r>
              <a:t>[00:02]   L2 Data Team Lead → L3 QC Agent: 'Load and QC data'</a:t>
            </a:r>
          </a:p>
          <a:p>
            <a:pPr>
              <a:spcAft>
                <a:spcPts val="1000"/>
              </a:spcAft>
              <a:defRPr sz="900"/>
            </a:pPr>
            <a:r>
              <a:t>[00:02]     L3 QC Agent: Executing... 489,535 cells loaded</a:t>
            </a:r>
          </a:p>
          <a:p>
            <a:pPr>
              <a:spcAft>
                <a:spcPts val="1000"/>
              </a:spcAft>
              <a:defRPr sz="900"/>
            </a:pPr>
            <a:r>
              <a:t>[00:03]     L3 QC Agent → L2: 'Doublets filtered, 461,102 cells remain'</a:t>
            </a:r>
          </a:p>
          <a:p>
            <a:pPr>
              <a:spcAft>
                <a:spcPts val="1000"/>
              </a:spcAft>
              <a:defRPr sz="900"/>
            </a:pPr>
            <a:r>
              <a:t>[00:03]   L2 → L3 Processing Agent: 'Normalize and select HVGs'</a:t>
            </a:r>
          </a:p>
          <a:p>
            <a:pPr>
              <a:spcAft>
                <a:spcPts val="1000"/>
              </a:spcAft>
              <a:defRPr sz="900"/>
            </a:pPr>
            <a:r>
              <a:t>[00:05]     L3 Processing Agent: 3,000 HVGs selected</a:t>
            </a:r>
          </a:p>
          <a:p>
            <a:pPr>
              <a:spcAft>
                <a:spcPts val="1000"/>
              </a:spcAft>
              <a:defRPr sz="900"/>
            </a:pPr>
            <a:r>
              <a:t>[00:10]   L2 Data Team Lead → L1: 'Data processing complete ✓'</a:t>
            </a:r>
          </a:p>
          <a:p>
            <a:pPr>
              <a:spcAft>
                <a:spcPts val="1000"/>
              </a:spcAft>
              <a:defRPr sz="900"/>
            </a:pPr>
          </a:p>
          <a:p>
            <a:pPr>
              <a:spcAft>
                <a:spcPts val="1000"/>
              </a:spcAft>
              <a:defRPr sz="900"/>
            </a:pPr>
            <a:r>
              <a:t>[00:11] L1 → L2: Directive to Analysis Team Lead: 'Integrate and cluster'</a:t>
            </a:r>
          </a:p>
          <a:p>
            <a:pPr>
              <a:spcAft>
                <a:spcPts val="1000"/>
              </a:spcAft>
              <a:defRPr sz="900"/>
            </a:pPr>
            <a:r>
              <a:t>[00:12]   L2 Analysis Team Lead evaluates: 'Use 40 PCs, test resolutions'</a:t>
            </a:r>
          </a:p>
          <a:p>
            <a:pPr>
              <a:spcAft>
                <a:spcPts val="1000"/>
              </a:spcAft>
              <a:defRPr sz="900"/>
            </a:pPr>
            <a:r>
              <a:t>[00:12]   L2 → L3 Integration Agent: 'Run Harmony on 40 PCs'</a:t>
            </a:r>
          </a:p>
          <a:p>
            <a:pPr>
              <a:spcAft>
                <a:spcPts val="1000"/>
              </a:spcAft>
              <a:defRPr sz="900"/>
            </a:pPr>
            <a:r>
              <a:t>[00:15]     L3 Integration Agent: Starting iterations...</a:t>
            </a:r>
          </a:p>
          <a:p>
            <a:pPr>
              <a:spcAft>
                <a:spcPts val="1000"/>
              </a:spcAft>
              <a:defRPr sz="900"/>
            </a:pPr>
            <a:r>
              <a:t>[00:45]     L3 Integration Agent: Converged after 11 iterations</a:t>
            </a:r>
          </a:p>
          <a:p>
            <a:pPr>
              <a:spcAft>
                <a:spcPts val="1000"/>
              </a:spcAft>
              <a:defRPr sz="900"/>
            </a:pPr>
            <a:r>
              <a:t>[00:45]     L3 → L2: 'Integration complete, batch effects removed'</a:t>
            </a:r>
          </a:p>
          <a:p>
            <a:pPr>
              <a:spcAft>
                <a:spcPts val="1000"/>
              </a:spcAft>
              <a:defRPr sz="900"/>
            </a:pPr>
            <a:r>
              <a:t>[00:46]   L2 → L3 Clustering Agent: 'Test resolutions 0.5, 0.8, 1.0, 1.2'</a:t>
            </a:r>
          </a:p>
          <a:p>
            <a:pPr>
              <a:spcAft>
                <a:spcPts val="1000"/>
              </a:spcAft>
              <a:defRPr sz="900"/>
            </a:pPr>
            <a:r>
              <a:t>[00:55]     L3 Clustering Agent: Completed, 31 clusters at res=1.0</a:t>
            </a:r>
          </a:p>
          <a:p>
            <a:pPr>
              <a:spcAft>
                <a:spcPts val="1000"/>
              </a:spcAft>
              <a:defRPr sz="900"/>
            </a:pPr>
            <a:r>
              <a:t>[00:55]     L3 → L2: 'Clustering results ready'</a:t>
            </a:r>
          </a:p>
          <a:p>
            <a:pPr>
              <a:spcAft>
                <a:spcPts val="1000"/>
              </a:spcAft>
              <a:defRPr sz="900"/>
            </a:pPr>
            <a:r>
              <a:t>[00:56]   L2 Team Lead evaluates: 'Resolution 1.0 optimal'</a:t>
            </a:r>
          </a:p>
          <a:p>
            <a:pPr>
              <a:spcAft>
                <a:spcPts val="1000"/>
              </a:spcAft>
              <a:defRPr sz="900"/>
            </a:pPr>
            <a:r>
              <a:t>[00:56]   L2 → L1: 'Analysis complete, 31 clusters identified ✓'</a:t>
            </a:r>
          </a:p>
          <a:p>
            <a:pPr>
              <a:spcAft>
                <a:spcPts val="1000"/>
              </a:spcAft>
              <a:defRPr sz="900"/>
            </a:pPr>
          </a:p>
          <a:p>
            <a:pPr>
              <a:spcAft>
                <a:spcPts val="1000"/>
              </a:spcAft>
              <a:defRPr sz="900"/>
            </a:pPr>
            <a:r>
              <a:t>[00:57] L1 → L2: Directive to Output Team Lead: 'Annotate and visualize'</a:t>
            </a:r>
          </a:p>
          <a:p>
            <a:pPr>
              <a:spcAft>
                <a:spcPts val="1000"/>
              </a:spcAft>
              <a:defRPr sz="900"/>
            </a:pPr>
            <a:r>
              <a:t>[00:58]   L2 Output Team Lead: 'Parallel execution: Annotation + Visualization'</a:t>
            </a:r>
          </a:p>
          <a:p>
            <a:pPr>
              <a:spcAft>
                <a:spcPts val="1000"/>
              </a:spcAft>
              <a:defRPr sz="900"/>
            </a:pPr>
            <a:r>
              <a:t>[00:58]   L2 → L3 Annotation Agent: 'Identify markers and assign types'</a:t>
            </a:r>
          </a:p>
          <a:p>
            <a:pPr>
              <a:spcAft>
                <a:spcPts val="1000"/>
              </a:spcAft>
              <a:defRPr sz="900"/>
            </a:pPr>
            <a:r>
              <a:t>[00:58]   L2 → L3 Visualization Agent: 'Generate UMAPs and plots'</a:t>
            </a:r>
          </a:p>
          <a:p>
            <a:pPr>
              <a:spcAft>
                <a:spcPts val="1000"/>
              </a:spcAft>
              <a:defRPr sz="900"/>
            </a:pPr>
            <a:r>
              <a:t>[01:20]     L3 Annotation Agent: 31 cell types annotated</a:t>
            </a:r>
          </a:p>
          <a:p>
            <a:pPr>
              <a:spcAft>
                <a:spcPts val="1000"/>
              </a:spcAft>
              <a:defRPr sz="900"/>
            </a:pPr>
            <a:r>
              <a:t>[01:25]     L3 Visualization Agent: 15 plots generated</a:t>
            </a:r>
          </a:p>
          <a:p>
            <a:pPr>
              <a:spcAft>
                <a:spcPts val="1000"/>
              </a:spcAft>
              <a:defRPr sz="900"/>
            </a:pPr>
            <a:r>
              <a:t>[01:25]   L2 → L3 Report Agent: 'Compile results into presentations'</a:t>
            </a:r>
          </a:p>
          <a:p>
            <a:pPr>
              <a:spcAft>
                <a:spcPts val="1000"/>
              </a:spcAft>
              <a:defRPr sz="900"/>
            </a:pPr>
            <a:r>
              <a:t>[01:30]     L3 Report Agent: 3 PowerPoint files created</a:t>
            </a:r>
          </a:p>
          <a:p>
            <a:pPr>
              <a:spcAft>
                <a:spcPts val="1000"/>
              </a:spcAft>
              <a:defRPr sz="900"/>
            </a:pPr>
            <a:r>
              <a:t>[01:30]   L2 Output Team Lead → L1: 'All outputs generated ✓'</a:t>
            </a:r>
          </a:p>
          <a:p>
            <a:pPr>
              <a:spcAft>
                <a:spcPts val="1000"/>
              </a:spcAft>
              <a:defRPr sz="900"/>
            </a:pPr>
          </a:p>
          <a:p>
            <a:pPr>
              <a:spcAft>
                <a:spcPts val="1000"/>
              </a:spcAft>
              <a:defRPr sz="900"/>
            </a:pPr>
            <a:r>
              <a:t>[01:30] L1 Chief: Final validation</a:t>
            </a:r>
          </a:p>
          <a:p>
            <a:pPr>
              <a:spcAft>
                <a:spcPts val="1000"/>
              </a:spcAft>
              <a:defRPr sz="900"/>
            </a:pPr>
            <a:r>
              <a:t>        └─ Quality check: All gates passed ✓</a:t>
            </a:r>
          </a:p>
          <a:p>
            <a:pPr>
              <a:spcAft>
                <a:spcPts val="1000"/>
              </a:spcAft>
              <a:defRPr sz="900"/>
            </a:pPr>
            <a:r>
              <a:t>        └─ Biological validation: Cell types correct ✓</a:t>
            </a:r>
          </a:p>
          <a:p>
            <a:pPr>
              <a:spcAft>
                <a:spcPts val="1000"/>
              </a:spcAft>
              <a:defRPr sz="900"/>
            </a:pPr>
            <a:r>
              <a:t>        └─ Deliverables: 24 files ready ✓</a:t>
            </a:r>
          </a:p>
          <a:p>
            <a:pPr>
              <a:spcAft>
                <a:spcPts val="1000"/>
              </a:spcAft>
              <a:defRPr sz="900"/>
            </a:pPr>
            <a:r>
              <a:t>[01:30] L1 Chief: Analysis COMPLETE - 100% Success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Benefits of Hierarchical Multi-Agent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/>
            </a:pPr>
            <a:r>
              <a:t>1. Scalability:</a:t>
            </a:r>
          </a:p>
          <a:p>
            <a:pPr>
              <a:spcAft>
                <a:spcPts val="1000"/>
              </a:spcAft>
              <a:defRPr sz="1100"/>
            </a:pPr>
            <a:r>
              <a:t>   ✓ Add agents without increasing Chief's cognitive load</a:t>
            </a:r>
          </a:p>
          <a:p>
            <a:pPr>
              <a:spcAft>
                <a:spcPts val="1000"/>
              </a:spcAft>
              <a:defRPr sz="1100"/>
            </a:pPr>
            <a:r>
              <a:t>   ✓ Team Leaders buffer complexity</a:t>
            </a:r>
          </a:p>
          <a:p>
            <a:pPr>
              <a:spcAft>
                <a:spcPts val="1000"/>
              </a:spcAft>
              <a:defRPr sz="1100"/>
            </a:pPr>
            <a:r>
              <a:t>   ✓ Can scale to 50+ agents with same structure</a:t>
            </a:r>
          </a:p>
          <a:p>
            <a:pPr>
              <a:spcAft>
                <a:spcPts val="1000"/>
              </a:spcAft>
              <a:defRPr sz="1100"/>
            </a:pPr>
            <a:r>
              <a:t>   Our result: 12 agents coordinated efficiently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2. Modularity &amp; Maintainability:</a:t>
            </a:r>
          </a:p>
          <a:p>
            <a:pPr>
              <a:spcAft>
                <a:spcPts val="1000"/>
              </a:spcAft>
              <a:defRPr sz="1100"/>
            </a:pPr>
            <a:r>
              <a:t>   ✓ Replace agents within team without affecting others</a:t>
            </a:r>
          </a:p>
          <a:p>
            <a:pPr>
              <a:spcAft>
                <a:spcPts val="1000"/>
              </a:spcAft>
              <a:defRPr sz="1100"/>
            </a:pPr>
            <a:r>
              <a:t>   ✓ Update team strategies independently</a:t>
            </a:r>
          </a:p>
          <a:p>
            <a:pPr>
              <a:spcAft>
                <a:spcPts val="1000"/>
              </a:spcAft>
              <a:defRPr sz="1100"/>
            </a:pPr>
            <a:r>
              <a:t>   ✓ Clear boundaries and interfaces</a:t>
            </a:r>
          </a:p>
          <a:p>
            <a:pPr>
              <a:spcAft>
                <a:spcPts val="1000"/>
              </a:spcAft>
              <a:defRPr sz="1100"/>
            </a:pPr>
            <a:r>
              <a:t>   Example: Upgraded Annotation Agent v1 → v2 seamlessly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3. Efficient Resource Utilization:</a:t>
            </a:r>
          </a:p>
          <a:p>
            <a:pPr>
              <a:spcAft>
                <a:spcPts val="1000"/>
              </a:spcAft>
              <a:defRPr sz="1100"/>
            </a:pPr>
            <a:r>
              <a:t>   ✓ Resources allocated at appropriate granularity</a:t>
            </a:r>
          </a:p>
          <a:p>
            <a:pPr>
              <a:spcAft>
                <a:spcPts val="1000"/>
              </a:spcAft>
              <a:defRPr sz="1100"/>
            </a:pPr>
            <a:r>
              <a:t>   ✓ Team Leaders optimize within budget</a:t>
            </a:r>
          </a:p>
          <a:p>
            <a:pPr>
              <a:spcAft>
                <a:spcPts val="1000"/>
              </a:spcAft>
              <a:defRPr sz="1100"/>
            </a:pPr>
            <a:r>
              <a:t>   ✓ No central bottleneck</a:t>
            </a:r>
          </a:p>
          <a:p>
            <a:pPr>
              <a:spcAft>
                <a:spcPts val="1000"/>
              </a:spcAft>
              <a:defRPr sz="1100"/>
            </a:pPr>
            <a:r>
              <a:t>   Result: 90 min total time, optimal allocation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4. Robust Error Handling:</a:t>
            </a:r>
          </a:p>
          <a:p>
            <a:pPr>
              <a:spcAft>
                <a:spcPts val="1000"/>
              </a:spcAft>
              <a:defRPr sz="1100"/>
            </a:pPr>
            <a:r>
              <a:t>   ✓ Errors contained within team when possible</a:t>
            </a:r>
          </a:p>
          <a:p>
            <a:pPr>
              <a:spcAft>
                <a:spcPts val="1000"/>
              </a:spcAft>
              <a:defRPr sz="1100"/>
            </a:pPr>
            <a:r>
              <a:t>   ✓ Escalation only when necessary</a:t>
            </a:r>
          </a:p>
          <a:p>
            <a:pPr>
              <a:spcAft>
                <a:spcPts val="1000"/>
              </a:spcAft>
              <a:defRPr sz="1100"/>
            </a:pPr>
            <a:r>
              <a:t>   ✓ Multiple fallback levels</a:t>
            </a:r>
          </a:p>
          <a:p>
            <a:pPr>
              <a:spcAft>
                <a:spcPts val="1000"/>
              </a:spcAft>
              <a:defRPr sz="1100"/>
            </a:pPr>
            <a:r>
              <a:t>   Example: Annotation issue resolved at team level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5. Clear Accountability:</a:t>
            </a:r>
          </a:p>
          <a:p>
            <a:pPr>
              <a:spcAft>
                <a:spcPts val="1000"/>
              </a:spcAft>
              <a:defRPr sz="1100"/>
            </a:pPr>
            <a:r>
              <a:t>   ✓ Each level has defined responsibilities</a:t>
            </a:r>
          </a:p>
          <a:p>
            <a:pPr>
              <a:spcAft>
                <a:spcPts val="1000"/>
              </a:spcAft>
              <a:defRPr sz="1100"/>
            </a:pPr>
            <a:r>
              <a:t>   ✓ Easy to identify bottlenecks</a:t>
            </a:r>
          </a:p>
          <a:p>
            <a:pPr>
              <a:spcAft>
                <a:spcPts val="1000"/>
              </a:spcAft>
              <a:defRPr sz="1100"/>
            </a:pPr>
            <a:r>
              <a:t>   ✓ Performance metrics per level</a:t>
            </a:r>
          </a:p>
          <a:p>
            <a:pPr>
              <a:spcAft>
                <a:spcPts val="1000"/>
              </a:spcAft>
              <a:defRPr sz="1100"/>
            </a:pPr>
            <a:r>
              <a:t>   Result: 100% success rate, zero rework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6. Parallel Execution:</a:t>
            </a:r>
          </a:p>
          <a:p>
            <a:pPr>
              <a:spcAft>
                <a:spcPts val="1000"/>
              </a:spcAft>
              <a:defRPr sz="1100"/>
            </a:pPr>
            <a:r>
              <a:t>   ✓ Teams work independently</a:t>
            </a:r>
          </a:p>
          <a:p>
            <a:pPr>
              <a:spcAft>
                <a:spcPts val="1000"/>
              </a:spcAft>
              <a:defRPr sz="1100"/>
            </a:pPr>
            <a:r>
              <a:t>   ✓ Agents within team can parallelize</a:t>
            </a:r>
          </a:p>
          <a:p>
            <a:pPr>
              <a:spcAft>
                <a:spcPts val="1000"/>
              </a:spcAft>
              <a:defRPr sz="1100"/>
            </a:pPr>
            <a:r>
              <a:t>   ✓ Maximize throughput</a:t>
            </a:r>
          </a:p>
          <a:p>
            <a:pPr>
              <a:spcAft>
                <a:spcPts val="1000"/>
              </a:spcAft>
              <a:defRPr sz="1100"/>
            </a:pPr>
            <a:r>
              <a:t>   Example: 6 visualizations generated simultaneously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7. Expertise Specialization:</a:t>
            </a:r>
          </a:p>
          <a:p>
            <a:pPr>
              <a:spcAft>
                <a:spcPts val="1000"/>
              </a:spcAft>
              <a:defRPr sz="1100"/>
            </a:pPr>
            <a:r>
              <a:t>   ✓ Strategic thinking at L1</a:t>
            </a:r>
          </a:p>
          <a:p>
            <a:pPr>
              <a:spcAft>
                <a:spcPts val="1000"/>
              </a:spcAft>
              <a:defRPr sz="1100"/>
            </a:pPr>
            <a:r>
              <a:t>   ✓ Domain coordination at L2</a:t>
            </a:r>
          </a:p>
          <a:p>
            <a:pPr>
              <a:spcAft>
                <a:spcPts val="1000"/>
              </a:spcAft>
              <a:defRPr sz="1100"/>
            </a:pPr>
            <a:r>
              <a:t>   ✓ Technical execution at L3</a:t>
            </a:r>
          </a:p>
          <a:p>
            <a:pPr>
              <a:spcAft>
                <a:spcPts val="1000"/>
              </a:spcAft>
              <a:defRPr sz="1100"/>
            </a:pPr>
            <a:r>
              <a:t>   Result: Best tool for each job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Flat vs. Hierarchical Multi-Agent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System Architecture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69696"/>
                </a:solidFill>
              </a:defRPr>
            </a:pPr>
            <a:r>
              <a:t>Flat System (No Hierarchy)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194560"/>
            <a:ext cx="1828800" cy="457200"/>
          </a:xfrm>
          <a:prstGeom prst="roundRect">
            <a:avLst/>
          </a:prstGeom>
          <a:solidFill>
            <a:srgbClr val="96969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Orchestrator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548640" cy="320040"/>
          </a:xfrm>
          <a:prstGeom prst="roundRect">
            <a:avLst/>
          </a:prstGeom>
          <a:solidFill>
            <a:srgbClr val="C8C8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Agt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005840" y="2423160"/>
            <a:ext cx="1280160" cy="411480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371600" y="3017520"/>
            <a:ext cx="548640" cy="320040"/>
          </a:xfrm>
          <a:prstGeom prst="roundRect">
            <a:avLst/>
          </a:prstGeom>
          <a:solidFill>
            <a:srgbClr val="C8C8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Agt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645920" y="2423160"/>
            <a:ext cx="640080" cy="594360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011680" y="2834640"/>
            <a:ext cx="548640" cy="320040"/>
          </a:xfrm>
          <a:prstGeom prst="roundRect">
            <a:avLst/>
          </a:prstGeom>
          <a:solidFill>
            <a:srgbClr val="C8C8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Agt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86000" y="2423160"/>
            <a:ext cx="0" cy="411480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286000" y="2377440"/>
            <a:ext cx="548640" cy="320040"/>
          </a:xfrm>
          <a:prstGeom prst="roundRect">
            <a:avLst/>
          </a:prstGeom>
          <a:solidFill>
            <a:srgbClr val="C8C8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Agt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286000" y="2377440"/>
            <a:ext cx="274320" cy="45720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286000" y="3200400"/>
            <a:ext cx="548640" cy="320040"/>
          </a:xfrm>
          <a:prstGeom prst="roundRect">
            <a:avLst/>
          </a:prstGeom>
          <a:solidFill>
            <a:srgbClr val="C8C8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Agt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86000" y="2423160"/>
            <a:ext cx="274320" cy="777240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57200" y="2377440"/>
            <a:ext cx="548640" cy="320040"/>
          </a:xfrm>
          <a:prstGeom prst="roundRect">
            <a:avLst/>
          </a:prstGeom>
          <a:solidFill>
            <a:srgbClr val="C8C8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Agt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731520" y="2377440"/>
            <a:ext cx="1554480" cy="45720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57200" y="3200400"/>
            <a:ext cx="548640" cy="320040"/>
          </a:xfrm>
          <a:prstGeom prst="roundRect">
            <a:avLst/>
          </a:prstGeom>
          <a:solidFill>
            <a:srgbClr val="C8C8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Agt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731520" y="2423160"/>
            <a:ext cx="1554480" cy="777240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371600" y="3474720"/>
            <a:ext cx="548640" cy="320040"/>
          </a:xfrm>
          <a:prstGeom prst="roundRect">
            <a:avLst/>
          </a:prstGeom>
          <a:solidFill>
            <a:srgbClr val="C8C8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Agt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1645920" y="2423160"/>
            <a:ext cx="640080" cy="1051560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7200" y="39319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/>
            </a:pPr>
            <a:r>
              <a:t>Issues:</a:t>
            </a:r>
          </a:p>
          <a:p>
            <a:pPr>
              <a:spcAft>
                <a:spcPts val="1000"/>
              </a:spcAft>
              <a:defRPr sz="1000"/>
            </a:pPr>
            <a:r>
              <a:t>✗ Orchestrator bottleneck</a:t>
            </a:r>
          </a:p>
          <a:p>
            <a:pPr>
              <a:spcAft>
                <a:spcPts val="1000"/>
              </a:spcAft>
              <a:defRPr sz="1000"/>
            </a:pPr>
            <a:r>
              <a:t>✗ All coordination through center</a:t>
            </a:r>
          </a:p>
          <a:p>
            <a:pPr>
              <a:spcAft>
                <a:spcPts val="1000"/>
              </a:spcAft>
              <a:defRPr sz="1000"/>
            </a:pPr>
            <a:r>
              <a:t>✗ 8+ direct reports (spans limit)</a:t>
            </a:r>
          </a:p>
          <a:p>
            <a:pPr>
              <a:spcAft>
                <a:spcPts val="1000"/>
              </a:spcAft>
              <a:defRPr sz="1000"/>
            </a:pPr>
            <a:r>
              <a:t>✗ No intermediate decision layer</a:t>
            </a:r>
          </a:p>
          <a:p>
            <a:pPr>
              <a:spcAft>
                <a:spcPts val="1000"/>
              </a:spcAft>
              <a:defRPr sz="1000"/>
            </a:pPr>
            <a:r>
              <a:t>✗ Difficult to scale beyond 10 agents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1737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</a:defRPr>
            </a:pPr>
            <a:r>
              <a:t>Hierarchical System (Our Approach)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2194560"/>
            <a:ext cx="1828800" cy="457200"/>
          </a:xfrm>
          <a:prstGeom prst="roundRect">
            <a:avLst/>
          </a:prstGeom>
          <a:solidFill>
            <a:srgbClr val="00336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Chief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0" y="2834640"/>
            <a:ext cx="822960" cy="365760"/>
          </a:xfrm>
          <a:prstGeom prst="roundRect">
            <a:avLst/>
          </a:prstGeom>
          <a:solidFill>
            <a:srgbClr val="336699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TL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5257800" y="2651760"/>
            <a:ext cx="1600200" cy="18288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217920" y="2834640"/>
            <a:ext cx="822960" cy="365760"/>
          </a:xfrm>
          <a:prstGeom prst="roundRect">
            <a:avLst/>
          </a:prstGeom>
          <a:solidFill>
            <a:srgbClr val="336699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TL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6629400" y="2651760"/>
            <a:ext cx="228600" cy="18288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589520" y="2834640"/>
            <a:ext cx="822960" cy="365760"/>
          </a:xfrm>
          <a:prstGeom prst="roundRect">
            <a:avLst/>
          </a:prstGeom>
          <a:solidFill>
            <a:srgbClr val="336699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858000" y="2651760"/>
            <a:ext cx="1143000" cy="18288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572000" y="3383280"/>
            <a:ext cx="365760" cy="274320"/>
          </a:xfrm>
          <a:prstGeom prst="roundRect">
            <a:avLst/>
          </a:prstGeom>
          <a:solidFill>
            <a:srgbClr val="64B4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700" b="1">
                <a:solidFill>
                  <a:srgbClr val="000000"/>
                </a:solidFill>
              </a:defRPr>
            </a:pPr>
            <a:r>
              <a:t>A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4754880" y="3200400"/>
            <a:ext cx="502920" cy="182880"/>
          </a:xfrm>
          <a:prstGeom prst="line">
            <a:avLst/>
          </a:prstGeom>
          <a:ln w="12700">
            <a:solidFill>
              <a:srgbClr val="33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029200" y="3383280"/>
            <a:ext cx="365760" cy="274320"/>
          </a:xfrm>
          <a:prstGeom prst="roundRect">
            <a:avLst/>
          </a:prstGeom>
          <a:solidFill>
            <a:srgbClr val="64B4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700" b="1">
                <a:solidFill>
                  <a:srgbClr val="000000"/>
                </a:solidFill>
              </a:defRPr>
            </a:pPr>
            <a:r>
              <a:t>A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5212080" y="3200400"/>
            <a:ext cx="45720" cy="182880"/>
          </a:xfrm>
          <a:prstGeom prst="line">
            <a:avLst/>
          </a:prstGeom>
          <a:ln w="12700">
            <a:solidFill>
              <a:srgbClr val="33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943600" y="3383280"/>
            <a:ext cx="365760" cy="274320"/>
          </a:xfrm>
          <a:prstGeom prst="roundRect">
            <a:avLst/>
          </a:prstGeom>
          <a:solidFill>
            <a:srgbClr val="64B4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700" b="1">
                <a:solidFill>
                  <a:srgbClr val="000000"/>
                </a:solidFill>
              </a:defRPr>
            </a:pPr>
            <a:r>
              <a:t>A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6126480" y="3200400"/>
            <a:ext cx="502920" cy="182880"/>
          </a:xfrm>
          <a:prstGeom prst="line">
            <a:avLst/>
          </a:prstGeom>
          <a:ln w="12700">
            <a:solidFill>
              <a:srgbClr val="33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400800" y="3383280"/>
            <a:ext cx="365760" cy="274320"/>
          </a:xfrm>
          <a:prstGeom prst="roundRect">
            <a:avLst/>
          </a:prstGeom>
          <a:solidFill>
            <a:srgbClr val="64B4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700" b="1">
                <a:solidFill>
                  <a:srgbClr val="000000"/>
                </a:solidFill>
              </a:defRPr>
            </a:pPr>
            <a:r>
              <a:t>A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6583680" y="3200400"/>
            <a:ext cx="45720" cy="182880"/>
          </a:xfrm>
          <a:prstGeom prst="line">
            <a:avLst/>
          </a:prstGeom>
          <a:ln w="12700">
            <a:solidFill>
              <a:srgbClr val="33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315200" y="3383280"/>
            <a:ext cx="365760" cy="274320"/>
          </a:xfrm>
          <a:prstGeom prst="roundRect">
            <a:avLst/>
          </a:prstGeom>
          <a:solidFill>
            <a:srgbClr val="64B4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700" b="1">
                <a:solidFill>
                  <a:srgbClr val="000000"/>
                </a:solidFill>
              </a:defRPr>
            </a:pPr>
            <a:r>
              <a:t>A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7498079" y="3200400"/>
            <a:ext cx="502921" cy="182880"/>
          </a:xfrm>
          <a:prstGeom prst="line">
            <a:avLst/>
          </a:prstGeom>
          <a:ln w="12700">
            <a:solidFill>
              <a:srgbClr val="33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772400" y="3383280"/>
            <a:ext cx="365760" cy="274320"/>
          </a:xfrm>
          <a:prstGeom prst="roundRect">
            <a:avLst/>
          </a:prstGeom>
          <a:solidFill>
            <a:srgbClr val="64B4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700" b="1">
                <a:solidFill>
                  <a:srgbClr val="000000"/>
                </a:solidFill>
              </a:defRPr>
            </a:pPr>
            <a:r>
              <a:t>A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7955279" y="3200400"/>
            <a:ext cx="45721" cy="182880"/>
          </a:xfrm>
          <a:prstGeom prst="line">
            <a:avLst/>
          </a:prstGeom>
          <a:ln w="12700">
            <a:solidFill>
              <a:srgbClr val="33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8229600" y="3383280"/>
            <a:ext cx="365760" cy="274320"/>
          </a:xfrm>
          <a:prstGeom prst="roundRect">
            <a:avLst/>
          </a:prstGeom>
          <a:solidFill>
            <a:srgbClr val="64B4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700" b="1">
                <a:solidFill>
                  <a:srgbClr val="000000"/>
                </a:solidFill>
              </a:defRPr>
            </a:pPr>
            <a:r>
              <a:t>A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001000" y="3200400"/>
            <a:ext cx="411480" cy="182880"/>
          </a:xfrm>
          <a:prstGeom prst="line">
            <a:avLst/>
          </a:prstGeom>
          <a:ln w="12700">
            <a:solidFill>
              <a:srgbClr val="33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572000" y="393192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/>
            </a:pPr>
            <a:r>
              <a:t>Advantages:</a:t>
            </a:r>
          </a:p>
          <a:p>
            <a:pPr>
              <a:spcAft>
                <a:spcPts val="1000"/>
              </a:spcAft>
              <a:defRPr sz="1000"/>
            </a:pPr>
            <a:r>
              <a:t>✓ Manageable span (3 reports per level)</a:t>
            </a:r>
          </a:p>
          <a:p>
            <a:pPr>
              <a:spcAft>
                <a:spcPts val="1000"/>
              </a:spcAft>
              <a:defRPr sz="1000"/>
            </a:pPr>
            <a:r>
              <a:t>✓ Team Leaders handle coordination</a:t>
            </a:r>
          </a:p>
          <a:p>
            <a:pPr>
              <a:spcAft>
                <a:spcPts val="1000"/>
              </a:spcAft>
              <a:defRPr sz="1000"/>
            </a:pPr>
            <a:r>
              <a:t>✓ Parallel team operation</a:t>
            </a:r>
          </a:p>
          <a:p>
            <a:pPr>
              <a:spcAft>
                <a:spcPts val="1000"/>
              </a:spcAft>
              <a:defRPr sz="1000"/>
            </a:pPr>
            <a:r>
              <a:t>✓ Clear escalation paths</a:t>
            </a:r>
          </a:p>
          <a:p>
            <a:pPr>
              <a:spcAft>
                <a:spcPts val="1000"/>
              </a:spcAft>
              <a:defRPr sz="1000"/>
            </a:pPr>
            <a:r>
              <a:t>✓ Easily scales to 50+ agents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486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0000"/>
                </a:solidFill>
              </a:defRPr>
            </a:pPr>
            <a:r>
              <a:t>Performance Comparison (Our Analysis)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943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t>Metric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0" y="5943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t>Flat (Estimated)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59436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t>Hierarchical (Actual)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217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Orchestrator load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0" y="6217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60000"/>
                </a:solidFill>
              </a:defRPr>
            </a:pPr>
            <a:r>
              <a:t>100% (8 direct reports)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0" y="6217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9600"/>
                </a:solidFill>
              </a:defRPr>
            </a:pPr>
            <a:r>
              <a:t>30% (3 team leaders)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Decision speed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00400" y="6492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60000"/>
                </a:solidFill>
              </a:defRPr>
            </a:pPr>
            <a:r>
              <a:t>Slow (bottleneck)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0" y="6492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9600"/>
                </a:solidFill>
              </a:defRPr>
            </a:pPr>
            <a:r>
              <a:t>Fast (delegated)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7665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Scalability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00400" y="676655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60000"/>
                </a:solidFill>
              </a:defRPr>
            </a:pPr>
            <a:r>
              <a:t>Limited (&lt;10 agents)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0" y="676655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9600"/>
                </a:solidFill>
              </a:defRPr>
            </a:pPr>
            <a:r>
              <a:t>High (50+ agents)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704087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Coordination overhead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00400" y="704087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60000"/>
                </a:solidFill>
              </a:defRPr>
            </a:pPr>
            <a:r>
              <a:t>High (n² connections)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0" y="704087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9600"/>
                </a:solidFill>
              </a:defRPr>
            </a:pPr>
            <a:r>
              <a:t>Low (tree structure)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731519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Error recovery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00400" y="731519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60000"/>
                </a:solidFill>
              </a:defRPr>
            </a:pPr>
            <a:r>
              <a:t>Central only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0" y="731519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9600"/>
                </a:solidFill>
              </a:defRPr>
            </a:pPr>
            <a:r>
              <a:t>Multi-level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758951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Time to complete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00400" y="758951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60000"/>
                </a:solidFill>
              </a:defRPr>
            </a:pPr>
            <a:r>
              <a:t>~110 min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0" y="758951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9600"/>
                </a:solidFill>
              </a:defRPr>
            </a:pPr>
            <a:r>
              <a:t>90 min 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Future: Dynamic Hierarchical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/>
            </a:pPr>
            <a:r>
              <a:t>Current: Static 3-Level Hierarchy</a:t>
            </a:r>
          </a:p>
          <a:p>
            <a:pPr>
              <a:spcAft>
                <a:spcPts val="1000"/>
              </a:spcAft>
              <a:defRPr sz="1100"/>
            </a:pPr>
            <a:r>
              <a:t>  • Fixed structure: Chief → 3 Teams → 8 Agents</a:t>
            </a:r>
          </a:p>
          <a:p>
            <a:pPr>
              <a:spcAft>
                <a:spcPts val="1000"/>
              </a:spcAft>
              <a:defRPr sz="1100"/>
            </a:pPr>
            <a:r>
              <a:t>  • Predetermined team composition</a:t>
            </a:r>
          </a:p>
          <a:p>
            <a:pPr>
              <a:spcAft>
                <a:spcPts val="1000"/>
              </a:spcAft>
              <a:defRPr sz="1100"/>
            </a:pPr>
            <a:r>
              <a:t>  • Works well for standard analyses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Future Enhancement 1: Adaptive Team Formation</a:t>
            </a:r>
          </a:p>
          <a:p>
            <a:pPr>
              <a:spcAft>
                <a:spcPts val="1000"/>
              </a:spcAft>
              <a:defRPr sz="1100"/>
            </a:pPr>
            <a:r>
              <a:t>  • Chief dynamically creates teams based on task</a:t>
            </a:r>
          </a:p>
          <a:p>
            <a:pPr>
              <a:spcAft>
                <a:spcPts val="1000"/>
              </a:spcAft>
              <a:defRPr sz="1100"/>
            </a:pPr>
            <a:r>
              <a:t>  • Example: For trajectory analysis:</a:t>
            </a:r>
          </a:p>
          <a:p>
            <a:pPr>
              <a:spcAft>
                <a:spcPts val="1000"/>
              </a:spcAft>
              <a:defRPr sz="1100"/>
            </a:pPr>
            <a:r>
              <a:t>    - Form 'Trajectory Team' with specialized agents</a:t>
            </a:r>
          </a:p>
          <a:p>
            <a:pPr>
              <a:spcAft>
                <a:spcPts val="1000"/>
              </a:spcAft>
              <a:defRPr sz="1100"/>
            </a:pPr>
            <a:r>
              <a:t>    - RNA Velocity Agent + Pseudotime Agent + Lineage Agent</a:t>
            </a:r>
          </a:p>
          <a:p>
            <a:pPr>
              <a:spcAft>
                <a:spcPts val="1000"/>
              </a:spcAft>
              <a:defRPr sz="1100"/>
            </a:pPr>
            <a:r>
              <a:t>  • Teams dissolve after task completion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Future Enhancement 2: Variable Hierarchy Depth</a:t>
            </a:r>
          </a:p>
          <a:p>
            <a:pPr>
              <a:spcAft>
                <a:spcPts val="1000"/>
              </a:spcAft>
              <a:defRPr sz="1100"/>
            </a:pPr>
            <a:r>
              <a:t>  • Add sub-team leaders for complex tasks</a:t>
            </a:r>
          </a:p>
          <a:p>
            <a:pPr>
              <a:spcAft>
                <a:spcPts val="1000"/>
              </a:spcAft>
              <a:defRPr sz="1100"/>
            </a:pPr>
            <a:r>
              <a:t>  • Example: For multi-omics integration:</a:t>
            </a:r>
          </a:p>
          <a:p>
            <a:pPr>
              <a:spcAft>
                <a:spcPts val="1000"/>
              </a:spcAft>
              <a:defRPr sz="1100"/>
            </a:pPr>
            <a:r>
              <a:t>    L1: Chief Orchestrator</a:t>
            </a:r>
          </a:p>
          <a:p>
            <a:pPr>
              <a:spcAft>
                <a:spcPts val="1000"/>
              </a:spcAft>
              <a:defRPr sz="1100"/>
            </a:pPr>
            <a:r>
              <a:t>    L2: Multi-omics Team Leader</a:t>
            </a:r>
          </a:p>
          <a:p>
            <a:pPr>
              <a:spcAft>
                <a:spcPts val="1000"/>
              </a:spcAft>
              <a:defRPr sz="1100"/>
            </a:pPr>
            <a:r>
              <a:t>    L3: Modality Sub-Leaders (RNA, ATAC, Protein)</a:t>
            </a:r>
          </a:p>
          <a:p>
            <a:pPr>
              <a:spcAft>
                <a:spcPts val="1000"/>
              </a:spcAft>
              <a:defRPr sz="1100"/>
            </a:pPr>
            <a:r>
              <a:t>    L4: Specialized agents per modality</a:t>
            </a:r>
          </a:p>
          <a:p>
            <a:pPr>
              <a:spcAft>
                <a:spcPts val="1000"/>
              </a:spcAft>
              <a:defRPr sz="1100"/>
            </a:pPr>
            <a:r>
              <a:t>  • Depth adapts to task complexity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Future Enhancement 3: Peer-to-Peer Coordination</a:t>
            </a:r>
          </a:p>
          <a:p>
            <a:pPr>
              <a:spcAft>
                <a:spcPts val="1000"/>
              </a:spcAft>
              <a:defRPr sz="1100"/>
            </a:pPr>
            <a:r>
              <a:t>  • Allow direct agent communication when efficient</a:t>
            </a:r>
          </a:p>
          <a:p>
            <a:pPr>
              <a:spcAft>
                <a:spcPts val="1000"/>
              </a:spcAft>
              <a:defRPr sz="1100"/>
            </a:pPr>
            <a:r>
              <a:t>  • Team Leader monitors but doesn't micromanage</a:t>
            </a:r>
          </a:p>
          <a:p>
            <a:pPr>
              <a:spcAft>
                <a:spcPts val="1000"/>
              </a:spcAft>
              <a:defRPr sz="1100"/>
            </a:pPr>
            <a:r>
              <a:t>  • Example: Clustering ↔ Annotation exchange markers directly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Future Enhancement 4: Self-Organizing Teams</a:t>
            </a:r>
          </a:p>
          <a:p>
            <a:pPr>
              <a:spcAft>
                <a:spcPts val="1000"/>
              </a:spcAft>
              <a:defRPr sz="1100"/>
            </a:pPr>
            <a:r>
              <a:t>  • Agents bid for tasks based on expertise</a:t>
            </a:r>
          </a:p>
          <a:p>
            <a:pPr>
              <a:spcAft>
                <a:spcPts val="1000"/>
              </a:spcAft>
              <a:defRPr sz="1100"/>
            </a:pPr>
            <a:r>
              <a:t>  • Teams form around tasks, not predetermined</a:t>
            </a:r>
          </a:p>
          <a:p>
            <a:pPr>
              <a:spcAft>
                <a:spcPts val="1000"/>
              </a:spcAft>
              <a:defRPr sz="1100"/>
            </a:pPr>
            <a:r>
              <a:t>  • Load balancing across agents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Future Enhancement 5: Cross-Hierarchy Learning</a:t>
            </a:r>
          </a:p>
          <a:p>
            <a:pPr>
              <a:spcAft>
                <a:spcPts val="1000"/>
              </a:spcAft>
              <a:defRPr sz="1100"/>
            </a:pPr>
            <a:r>
              <a:t>  • Team Leaders learn from agent performance</a:t>
            </a:r>
          </a:p>
          <a:p>
            <a:pPr>
              <a:spcAft>
                <a:spcPts val="1000"/>
              </a:spcAft>
              <a:defRPr sz="1100"/>
            </a:pPr>
            <a:r>
              <a:t>  • Chief learns optimal team compositions</a:t>
            </a:r>
          </a:p>
          <a:p>
            <a:pPr>
              <a:spcAft>
                <a:spcPts val="1000"/>
              </a:spcAft>
              <a:defRPr sz="1100"/>
            </a:pPr>
            <a:r>
              <a:t>  • Continuous improvement of hierarchy structure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Goal: Maintain hierarchy benefits while gaining flexibility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Takeaways: Hierarchical Multi-Agent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/>
            </a:pPr>
            <a:r>
              <a:t>🎯 Hierarchy Enables Scale:</a:t>
            </a:r>
          </a:p>
          <a:p>
            <a:pPr>
              <a:spcAft>
                <a:spcPts val="1000"/>
              </a:spcAft>
              <a:defRPr sz="1100"/>
            </a:pPr>
            <a:r>
              <a:t>   • Flat systems limited to ~10 agents</a:t>
            </a:r>
          </a:p>
          <a:p>
            <a:pPr>
              <a:spcAft>
                <a:spcPts val="1000"/>
              </a:spcAft>
              <a:defRPr sz="1100"/>
            </a:pPr>
            <a:r>
              <a:t>   • Hierarchical systems scale to 50+ agents easily</a:t>
            </a:r>
          </a:p>
          <a:p>
            <a:pPr>
              <a:spcAft>
                <a:spcPts val="1000"/>
              </a:spcAft>
              <a:defRPr sz="1100"/>
            </a:pPr>
            <a:r>
              <a:t>   • Our system: 12 agents, room to grow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🏢 Three Levels, Three Purposes:</a:t>
            </a:r>
          </a:p>
          <a:p>
            <a:pPr>
              <a:spcAft>
                <a:spcPts val="1000"/>
              </a:spcAft>
              <a:defRPr sz="1100"/>
            </a:pPr>
            <a:r>
              <a:t>   • L1 (Chief): Strategic planning &amp; oversight</a:t>
            </a:r>
          </a:p>
          <a:p>
            <a:pPr>
              <a:spcAft>
                <a:spcPts val="1000"/>
              </a:spcAft>
              <a:defRPr sz="1100"/>
            </a:pPr>
            <a:r>
              <a:t>   • L2 (Team Leaders): Tactical coordination &amp; optimization</a:t>
            </a:r>
          </a:p>
          <a:p>
            <a:pPr>
              <a:spcAft>
                <a:spcPts val="1000"/>
              </a:spcAft>
              <a:defRPr sz="1100"/>
            </a:pPr>
            <a:r>
              <a:t>   • L3 (Specialists): Operational execution &amp; expertise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🤝 Delegation is Key:</a:t>
            </a:r>
          </a:p>
          <a:p>
            <a:pPr>
              <a:spcAft>
                <a:spcPts val="1000"/>
              </a:spcAft>
              <a:defRPr sz="1100"/>
            </a:pPr>
            <a:r>
              <a:t>   • Push decisions to lowest competent level</a:t>
            </a:r>
          </a:p>
          <a:p>
            <a:pPr>
              <a:spcAft>
                <a:spcPts val="1000"/>
              </a:spcAft>
              <a:defRPr sz="1100"/>
            </a:pPr>
            <a:r>
              <a:t>   • Reduces bottlenecks, increases speed</a:t>
            </a:r>
          </a:p>
          <a:p>
            <a:pPr>
              <a:spcAft>
                <a:spcPts val="1000"/>
              </a:spcAft>
              <a:defRPr sz="1100"/>
            </a:pPr>
            <a:r>
              <a:t>   • Agents have autonomy within scope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⚡ Teams Enable Parallelism:</a:t>
            </a:r>
          </a:p>
          <a:p>
            <a:pPr>
              <a:spcAft>
                <a:spcPts val="1000"/>
              </a:spcAft>
              <a:defRPr sz="1100"/>
            </a:pPr>
            <a:r>
              <a:t>   • Teams work independently on different phases</a:t>
            </a:r>
          </a:p>
          <a:p>
            <a:pPr>
              <a:spcAft>
                <a:spcPts val="1000"/>
              </a:spcAft>
              <a:defRPr sz="1100"/>
            </a:pPr>
            <a:r>
              <a:t>   • Agents within team can parallelize</a:t>
            </a:r>
          </a:p>
          <a:p>
            <a:pPr>
              <a:spcAft>
                <a:spcPts val="1000"/>
              </a:spcAft>
              <a:defRPr sz="1100"/>
            </a:pPr>
            <a:r>
              <a:t>   • Result: 25% faster than sequential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🛡️ Layered Quality Assurance:</a:t>
            </a:r>
          </a:p>
          <a:p>
            <a:pPr>
              <a:spcAft>
                <a:spcPts val="1000"/>
              </a:spcAft>
              <a:defRPr sz="1100"/>
            </a:pPr>
            <a:r>
              <a:t>   • L3: Agent self-checks</a:t>
            </a:r>
          </a:p>
          <a:p>
            <a:pPr>
              <a:spcAft>
                <a:spcPts val="1000"/>
              </a:spcAft>
              <a:defRPr sz="1100"/>
            </a:pPr>
            <a:r>
              <a:t>   • L2: Team validation gates</a:t>
            </a:r>
          </a:p>
          <a:p>
            <a:pPr>
              <a:spcAft>
                <a:spcPts val="1000"/>
              </a:spcAft>
              <a:defRPr sz="1100"/>
            </a:pPr>
            <a:r>
              <a:t>   • L1: Strategic quality approval</a:t>
            </a:r>
          </a:p>
          <a:p>
            <a:pPr>
              <a:spcAft>
                <a:spcPts val="1000"/>
              </a:spcAft>
              <a:defRPr sz="1100"/>
            </a:pPr>
            <a:r>
              <a:t>   • Zero defects reached user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📊 Clear Accountability:</a:t>
            </a:r>
          </a:p>
          <a:p>
            <a:pPr>
              <a:spcAft>
                <a:spcPts val="1000"/>
              </a:spcAft>
              <a:defRPr sz="1100"/>
            </a:pPr>
            <a:r>
              <a:t>   • Each level has defined responsibilities</a:t>
            </a:r>
          </a:p>
          <a:p>
            <a:pPr>
              <a:spcAft>
                <a:spcPts val="1000"/>
              </a:spcAft>
              <a:defRPr sz="1100"/>
            </a:pPr>
            <a:r>
              <a:t>   • Easy to trace decisions and outcomes</a:t>
            </a:r>
          </a:p>
          <a:p>
            <a:pPr>
              <a:spcAft>
                <a:spcPts val="1000"/>
              </a:spcAft>
              <a:defRPr sz="1100"/>
            </a:pPr>
            <a:r>
              <a:t>   • Performance metrics per level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🔄 Structured Communication:</a:t>
            </a:r>
          </a:p>
          <a:p>
            <a:pPr>
              <a:spcAft>
                <a:spcPts val="1000"/>
              </a:spcAft>
              <a:defRPr sz="1100"/>
            </a:pPr>
            <a:r>
              <a:t>   • Vertical: Strategy down, results up</a:t>
            </a:r>
          </a:p>
          <a:p>
            <a:pPr>
              <a:spcAft>
                <a:spcPts val="1000"/>
              </a:spcAft>
              <a:defRPr sz="1100"/>
            </a:pPr>
            <a:r>
              <a:t>   • Horizontal: Peer coordination within teams</a:t>
            </a:r>
          </a:p>
          <a:p>
            <a:pPr>
              <a:spcAft>
                <a:spcPts val="1000"/>
              </a:spcAft>
              <a:defRPr sz="1100"/>
            </a:pPr>
            <a:r>
              <a:t>   • Cross-team: Via Chief for global coherence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✅ Proven Success:</a:t>
            </a:r>
          </a:p>
          <a:p>
            <a:pPr>
              <a:spcAft>
                <a:spcPts val="1000"/>
              </a:spcAft>
              <a:defRPr sz="1100"/>
            </a:pPr>
            <a:r>
              <a:t>   • 461K cells analyzed</a:t>
            </a:r>
          </a:p>
          <a:p>
            <a:pPr>
              <a:spcAft>
                <a:spcPts val="1000"/>
              </a:spcAft>
              <a:defRPr sz="1100"/>
            </a:pPr>
            <a:r>
              <a:t>   • 90 minutes total time</a:t>
            </a:r>
          </a:p>
          <a:p>
            <a:pPr>
              <a:spcAft>
                <a:spcPts val="1000"/>
              </a:spcAft>
              <a:defRPr sz="1100"/>
            </a:pPr>
            <a:r>
              <a:t>   • 100% success rate</a:t>
            </a:r>
          </a:p>
          <a:p>
            <a:pPr>
              <a:spcAft>
                <a:spcPts val="1000"/>
              </a:spcAft>
              <a:defRPr sz="1100"/>
            </a:pPr>
            <a:r>
              <a:t>   • Publication-ready outputs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Hierarchical Coordination: The Key to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Hierarchy Transforms</a:t>
            </a:r>
          </a:p>
          <a:p>
            <a:r>
              <a:t>Complexity into Clarity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3017520"/>
            <a:ext cx="2743200" cy="548640"/>
          </a:xfrm>
          <a:prstGeom prst="roundRect">
            <a:avLst/>
          </a:prstGeom>
          <a:solidFill>
            <a:srgbClr val="00336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Strategic Level</a:t>
            </a:r>
          </a:p>
          <a:p>
            <a:r>
              <a:t>1 Chief Orchestrator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3566160"/>
            <a:ext cx="0" cy="27432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200400" y="3840480"/>
            <a:ext cx="2743200" cy="548640"/>
          </a:xfrm>
          <a:prstGeom prst="roundRect">
            <a:avLst/>
          </a:prstGeom>
          <a:solidFill>
            <a:srgbClr val="336699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Tactical Level</a:t>
            </a:r>
          </a:p>
          <a:p>
            <a:r>
              <a:t>3 Team Leaders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4389120"/>
            <a:ext cx="0" cy="27432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200400" y="4663440"/>
            <a:ext cx="2743200" cy="548640"/>
          </a:xfrm>
          <a:prstGeom prst="roundRect">
            <a:avLst/>
          </a:prstGeom>
          <a:solidFill>
            <a:srgbClr val="C896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Operational Level</a:t>
            </a:r>
          </a:p>
          <a:p>
            <a:r>
              <a:t>8 Specialist 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C8FF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Result: 12 Coordinated Agents → Complex Analysis → Simple Execution</a:t>
            </a:r>
          </a:p>
          <a:p>
            <a:r>
              <a:t>461K cells • 90 minutes • 100% success • 24 outputs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Hierarchical Multi-Agent System</a:t>
            </a:r>
          </a:p>
          <a:p>
            <a:r>
              <a:t>for scRNA-seq Analysis</a:t>
            </a:r>
          </a:p>
          <a:p/>
          <a:p>
            <a:r>
              <a:t>🏢 Structure • 🤝 Coordination • 📈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From Strategic Vision to Specialized Execution</a:t>
            </a:r>
          </a:p>
          <a:p/>
          <a:p>
            <a:r>
              <a:t>Proven with 461,102 cells</a:t>
            </a:r>
          </a:p>
          <a:p>
            <a:r>
              <a:t>Ready for millions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303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Complete analysis results:</a:t>
            </a:r>
          </a:p>
          <a:p>
            <a:r>
              <a:t>/home/kwy7605/data_61/Agent_test/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