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Spleen scRNA-seq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Harmony Integration &amp; Cell Type Annotation</a:t>
            </a:r>
          </a:p>
          <a:p/>
          <a:p>
            <a:r>
              <a:t>Date: 2026-01-16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Analysis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Dataset: 461,102 cells × 32,194 genes</a:t>
            </a:r>
          </a:p>
          <a:p>
            <a:pPr>
              <a:spcAft>
                <a:spcPts val="1200"/>
              </a:spcAft>
              <a:defRPr sz="2000"/>
            </a:pPr>
            <a:r>
              <a:t>Sample type: Spleen tissue (73 samples)</a:t>
            </a:r>
          </a:p>
          <a:p>
            <a:pPr>
              <a:spcAft>
                <a:spcPts val="1200"/>
              </a:spcAft>
              <a:defRPr sz="2000"/>
            </a:pPr>
            <a:r>
              <a:t>Batch correction: Harmony integration</a:t>
            </a:r>
          </a:p>
          <a:p>
            <a:pPr>
              <a:spcAft>
                <a:spcPts val="1200"/>
              </a:spcAft>
              <a:defRPr sz="2000"/>
            </a:pPr>
            <a:r>
              <a:t>Clustering: Louvain (31 clusters, resolution 1.0)</a:t>
            </a:r>
          </a:p>
          <a:p>
            <a:pPr>
              <a:spcAft>
                <a:spcPts val="1200"/>
              </a:spcAft>
              <a:defRPr sz="2000"/>
            </a:pPr>
            <a:r>
              <a:t>PCs used: 40 (optimal from range 30-50)</a:t>
            </a:r>
          </a:p>
          <a:p>
            <a:pPr>
              <a:spcAft>
                <a:spcPts val="1200"/>
              </a:spcAft>
              <a:defRPr sz="2000"/>
            </a:pPr>
            <a:r>
              <a:t>Cell types identified: 11 major types, 31 refined subtypes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Analysis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1. Quality Control: Filtered doublets (28,433 cells removed)</a:t>
            </a:r>
          </a:p>
          <a:p>
            <a:pPr>
              <a:spcAft>
                <a:spcPts val="1200"/>
              </a:spcAft>
              <a:defRPr sz="1600"/>
            </a:pPr>
            <a:r>
              <a:t>2. Normalization: Total count to 10,000 UMIs + log transformation</a:t>
            </a:r>
          </a:p>
          <a:p>
            <a:pPr>
              <a:spcAft>
                <a:spcPts val="1200"/>
              </a:spcAft>
              <a:defRPr sz="1600"/>
            </a:pPr>
            <a:r>
              <a:t>3. Feature Selection: 3,000 highly variable genes</a:t>
            </a:r>
          </a:p>
          <a:p>
            <a:pPr>
              <a:spcAft>
                <a:spcPts val="1200"/>
              </a:spcAft>
              <a:defRPr sz="1600"/>
            </a:pPr>
            <a:r>
              <a:t>4. PCA: 50 components computed, 40 selected</a:t>
            </a:r>
          </a:p>
          <a:p>
            <a:pPr>
              <a:spcAft>
                <a:spcPts val="1200"/>
              </a:spcAft>
              <a:defRPr sz="1600"/>
            </a:pPr>
            <a:r>
              <a:t>5. Harmony Integration: Batch effect correction (11 iterations)</a:t>
            </a:r>
          </a:p>
          <a:p>
            <a:pPr>
              <a:spcAft>
                <a:spcPts val="1200"/>
              </a:spcAft>
              <a:defRPr sz="1600"/>
            </a:pPr>
            <a:r>
              <a:t>6. UMAP: Dimensionality reduction for visualization</a:t>
            </a:r>
          </a:p>
          <a:p>
            <a:pPr>
              <a:spcAft>
                <a:spcPts val="1200"/>
              </a:spcAft>
              <a:defRPr sz="1600"/>
            </a:pPr>
            <a:r>
              <a:t>7. Louvain Clustering: 31 clusters identified</a:t>
            </a:r>
          </a:p>
          <a:p>
            <a:pPr>
              <a:spcAft>
                <a:spcPts val="1200"/>
              </a:spcAft>
              <a:defRPr sz="1600"/>
            </a:pPr>
            <a:r>
              <a:t>8. Cell Type Annotation: Based on marker gene expression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Quality Control Metrics</a:t>
            </a:r>
          </a:p>
        </p:txBody>
      </p:sp>
      <p:pic>
        <p:nvPicPr>
          <p:cNvPr id="4" name="Picture 3" descr="01_QC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1066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Principal Component Analysis</a:t>
            </a:r>
          </a:p>
        </p:txBody>
      </p:sp>
      <p:pic>
        <p:nvPicPr>
          <p:cNvPr id="4" name="Picture 3" descr="02_PCA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23473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40 PCs selected (explains 17.9% variance)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Before Harmony Integration</a:t>
            </a:r>
          </a:p>
        </p:txBody>
      </p:sp>
      <p:pic>
        <p:nvPicPr>
          <p:cNvPr id="4" name="Picture 3" descr="03_UMAP_before_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56947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After Harmony Integration</a:t>
            </a:r>
          </a:p>
        </p:txBody>
      </p:sp>
      <p:pic>
        <p:nvPicPr>
          <p:cNvPr id="4" name="Picture 3" descr="04_UMAP_after_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56947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Integration Quality Assessment</a:t>
            </a:r>
          </a:p>
        </p:txBody>
      </p:sp>
      <p:pic>
        <p:nvPicPr>
          <p:cNvPr id="4" name="Picture 3" descr="07_integration_before_aft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8778240" cy="34341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Louvain Clustering Results</a:t>
            </a:r>
          </a:p>
        </p:txBody>
      </p:sp>
      <p:pic>
        <p:nvPicPr>
          <p:cNvPr id="4" name="Picture 3" descr="05_clustering_resol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Resolution 1.0 selected: 31 clusters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Marker Genes per Cluster</a:t>
            </a:r>
          </a:p>
        </p:txBody>
      </p:sp>
      <p:pic>
        <p:nvPicPr>
          <p:cNvPr id="4" name="Picture 3" descr="06_marker_gene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6400800" cy="57933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Major Cell Type Distribution</a:t>
            </a:r>
          </a:p>
        </p:txBody>
      </p:sp>
      <p:pic>
        <p:nvPicPr>
          <p:cNvPr id="4" name="Picture 3" descr="08_major_cell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31420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Major Cell Types -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286000"/>
              </a:tblGrid>
              <a:tr h="3810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Cell 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Macrophages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144,203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31.27%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123,162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26.71%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61,274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13.29%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Neutrophils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47,158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10.23%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Monocytes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35,935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7.79%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Plasma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23,833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5.17%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NK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10,062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2.18%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Proliferating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9,655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2.09%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Dendritic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3,230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0.70%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Mast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1,328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0.29%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Endothelial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1,262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0.27%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Refined Cell Type Annotation</a:t>
            </a:r>
          </a:p>
        </p:txBody>
      </p:sp>
      <p:pic>
        <p:nvPicPr>
          <p:cNvPr id="4" name="Picture 3" descr="09_refined_cell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8778240" cy="33498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Top 10 Refined Cell Types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6576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Cluster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Cell 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 cells (Naive)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54,816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11.89%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Macrophages (C1Q+)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48,815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10.59%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Macrophages (Resident)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45,294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9.82%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 cells (CD4+)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26,236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5.69%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Macrophages (CD5L+)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25,025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5.43%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 cells (Follicular)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25,015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5.43%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Macrophages (MERTK+)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24,661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5.35%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Neutrophils (Mature)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22,289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4.83%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 cells (Naive)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19,308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4.19%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Monocytes (Activated)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19,187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4.16%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Marker Genes by Cell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B cells: CD79A, CD79B, MS4A1, BANK1, PAX5</a:t>
            </a:r>
          </a:p>
          <a:p>
            <a:pPr>
              <a:spcAft>
                <a:spcPts val="1200"/>
              </a:spcAft>
              <a:defRPr sz="1800"/>
            </a:pPr>
            <a:r>
              <a:t>T cells: CD3E, CD3D, CD3G, TRAC, IL7R</a:t>
            </a:r>
          </a:p>
          <a:p>
            <a:pPr>
              <a:spcAft>
                <a:spcPts val="1200"/>
              </a:spcAft>
              <a:defRPr sz="1800"/>
            </a:pPr>
            <a:r>
              <a:t>Macrophages: C1QA, C1QC, CD68, CD163, APOE</a:t>
            </a:r>
          </a:p>
          <a:p>
            <a:pPr>
              <a:spcAft>
                <a:spcPts val="1200"/>
              </a:spcAft>
              <a:defRPr sz="1800"/>
            </a:pPr>
            <a:r>
              <a:t>Monocytes: FCN1, S100A8, S100A9, VCAN, CD14</a:t>
            </a:r>
          </a:p>
          <a:p>
            <a:pPr>
              <a:spcAft>
                <a:spcPts val="1200"/>
              </a:spcAft>
              <a:defRPr sz="1800"/>
            </a:pPr>
            <a:r>
              <a:t>Neutrophils: LTF, CAMP, S100A12, MPO, ELANE</a:t>
            </a:r>
          </a:p>
          <a:p>
            <a:pPr>
              <a:spcAft>
                <a:spcPts val="1200"/>
              </a:spcAft>
              <a:defRPr sz="1800"/>
            </a:pPr>
            <a:r>
              <a:t>NK cells: NKG7, KLRD1, GZMB, KLRK1</a:t>
            </a:r>
          </a:p>
          <a:p>
            <a:pPr>
              <a:spcAft>
                <a:spcPts val="1200"/>
              </a:spcAft>
              <a:defRPr sz="1800"/>
            </a:pPr>
            <a:r>
              <a:t>Plasma cells: MZB1, XBP1, JCHAIN, TNFRSF17</a:t>
            </a:r>
          </a:p>
          <a:p>
            <a:pPr>
              <a:spcAft>
                <a:spcPts val="1200"/>
              </a:spcAft>
              <a:defRPr sz="1800"/>
            </a:pPr>
            <a:r>
              <a:t>Dendritic cells: HLA-DRA, HLA-DQA1, HLA-DRB1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✓ Successful batch correction across 73 samples using Harmony</a:t>
            </a:r>
          </a:p>
          <a:p>
            <a:pPr>
              <a:spcAft>
                <a:spcPts val="1200"/>
              </a:spcAft>
              <a:defRPr sz="1800"/>
            </a:pPr>
            <a:r>
              <a:t>✓ Macrophages dominate (31.3%) - consistent with spleen function</a:t>
            </a:r>
          </a:p>
          <a:p>
            <a:pPr>
              <a:spcAft>
                <a:spcPts val="1200"/>
              </a:spcAft>
              <a:defRPr sz="1800"/>
            </a:pPr>
            <a:r>
              <a:t>✓ Diverse B cell populations (26.7%) - multiple developmental stages</a:t>
            </a:r>
          </a:p>
          <a:p>
            <a:pPr>
              <a:spcAft>
                <a:spcPts val="1200"/>
              </a:spcAft>
              <a:defRPr sz="1800"/>
            </a:pPr>
            <a:r>
              <a:t>✓ Active immune response: substantial neutrophils (10.2%) &amp; plasma cells (5.2%)</a:t>
            </a:r>
          </a:p>
          <a:p>
            <a:pPr>
              <a:spcAft>
                <a:spcPts val="1200"/>
              </a:spcAft>
              <a:defRPr sz="1800"/>
            </a:pPr>
            <a:r>
              <a:t>✓ High-resolution annotation: 31 refined cell type subtypes identified</a:t>
            </a:r>
          </a:p>
          <a:p>
            <a:pPr>
              <a:spcAft>
                <a:spcPts val="1200"/>
              </a:spcAft>
              <a:defRPr sz="1800"/>
            </a:pPr>
            <a:r>
              <a:t>✓ Clear marker gene signatures for all major cell populations</a:t>
            </a:r>
          </a:p>
          <a:p>
            <a:pPr>
              <a:spcAft>
                <a:spcPts val="1200"/>
              </a:spcAft>
              <a:defRPr sz="1800"/>
            </a:pPr>
            <a:r>
              <a:t>✓ Integration preserved biological variation while removing batch effects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Biological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Macrophage diversity reflects red pulp function:</a:t>
            </a:r>
          </a:p>
          <a:p>
            <a:pPr>
              <a:spcAft>
                <a:spcPts val="1200"/>
              </a:spcAft>
              <a:defRPr sz="1600"/>
            </a:pPr>
            <a:r>
              <a:t>  • C1Q+ macrophages: debris clearance &amp; complement</a:t>
            </a:r>
          </a:p>
          <a:p>
            <a:pPr>
              <a:spcAft>
                <a:spcPts val="1200"/>
              </a:spcAft>
              <a:defRPr sz="1600"/>
            </a:pPr>
            <a:r>
              <a:t>  • MERTK+ macrophages: M2-like anti-inflammatory phenotype</a:t>
            </a:r>
          </a:p>
          <a:p>
            <a:pPr>
              <a:spcAft>
                <a:spcPts val="1200"/>
              </a:spcAft>
              <a:defRPr sz="1600"/>
            </a:pPr>
            <a:r>
              <a:t>  • Resident macrophages: tissue-resident population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B cell heterogeneity indicates active germinal center:</a:t>
            </a:r>
          </a:p>
          <a:p>
            <a:pPr>
              <a:spcAft>
                <a:spcPts val="1200"/>
              </a:spcAft>
              <a:defRPr sz="1600"/>
            </a:pPr>
            <a:r>
              <a:t>  • Naive → Follicular → Memory B cell differentiation</a:t>
            </a:r>
          </a:p>
          <a:p>
            <a:pPr>
              <a:spcAft>
                <a:spcPts val="1200"/>
              </a:spcAft>
              <a:defRPr sz="1600"/>
            </a:pPr>
            <a:r>
              <a:t>  • Pro-B cells: ongoing B lymphopoiesis</a:t>
            </a:r>
          </a:p>
          <a:p>
            <a:pPr>
              <a:spcAft>
                <a:spcPts val="1200"/>
              </a:spcAft>
              <a:defRPr sz="1600"/>
            </a:pPr>
            <a:r>
              <a:t>  • Plasma cells: active antibody production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Neutrophil infiltration suggests immune activation</a:t>
            </a:r>
          </a:p>
          <a:p>
            <a:pPr>
              <a:spcAft>
                <a:spcPts val="1200"/>
              </a:spcAft>
              <a:defRPr sz="1600"/>
            </a:pPr>
            <a:r>
              <a:t>NK &amp; T cells provide cellular immunity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Analysis Quality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Data Quality:</a:t>
            </a:r>
          </a:p>
          <a:p>
            <a:pPr>
              <a:spcAft>
                <a:spcPts val="1200"/>
              </a:spcAft>
              <a:defRPr sz="1600"/>
            </a:pPr>
            <a:r>
              <a:t>  • High cell count: 461,102 cells analyzed</a:t>
            </a:r>
          </a:p>
          <a:p>
            <a:pPr>
              <a:spcAft>
                <a:spcPts val="1200"/>
              </a:spcAft>
              <a:defRPr sz="1600"/>
            </a:pPr>
            <a:r>
              <a:t>  • Good gene detection: median 1,505 genes/cell</a:t>
            </a:r>
          </a:p>
          <a:p>
            <a:pPr>
              <a:spcAft>
                <a:spcPts val="1200"/>
              </a:spcAft>
              <a:defRPr sz="1600"/>
            </a:pPr>
            <a:r>
              <a:t>  • Low MT contamination: median 3.3%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Integration Quality:</a:t>
            </a:r>
          </a:p>
          <a:p>
            <a:pPr>
              <a:spcAft>
                <a:spcPts val="1200"/>
              </a:spcAft>
              <a:defRPr sz="1600"/>
            </a:pPr>
            <a:r>
              <a:t>  • Harmony converged in 11 iterations</a:t>
            </a:r>
          </a:p>
          <a:p>
            <a:pPr>
              <a:spcAft>
                <a:spcPts val="1200"/>
              </a:spcAft>
              <a:defRPr sz="1600"/>
            </a:pPr>
            <a:r>
              <a:t>  • Batch effects successfully removed</a:t>
            </a:r>
          </a:p>
          <a:p>
            <a:pPr>
              <a:spcAft>
                <a:spcPts val="1200"/>
              </a:spcAft>
              <a:defRPr sz="1600"/>
            </a:pPr>
            <a:r>
              <a:t>  • Biological variation preserved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Annotation Quality:</a:t>
            </a:r>
          </a:p>
          <a:p>
            <a:pPr>
              <a:spcAft>
                <a:spcPts val="1200"/>
              </a:spcAft>
              <a:defRPr sz="1600"/>
            </a:pPr>
            <a:r>
              <a:t>  • Clear marker gene signatures</a:t>
            </a:r>
          </a:p>
          <a:p>
            <a:pPr>
              <a:spcAft>
                <a:spcPts val="1200"/>
              </a:spcAft>
              <a:defRPr sz="1600"/>
            </a:pPr>
            <a:r>
              <a:t>  • Biologically consistent populations</a:t>
            </a:r>
          </a:p>
          <a:p>
            <a:pPr>
              <a:spcAft>
                <a:spcPts val="1200"/>
              </a:spcAft>
              <a:defRPr sz="1600"/>
            </a:pPr>
            <a:r>
              <a:t>  • Well-separated clusters in UMAP space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Generated Output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Figures (9 PNG files):</a:t>
            </a:r>
          </a:p>
          <a:p>
            <a:pPr>
              <a:spcAft>
                <a:spcPts val="1200"/>
              </a:spcAft>
              <a:defRPr sz="1600"/>
            </a:pPr>
            <a:r>
              <a:t>  • QC metrics, PCA variance, UMAP before/after integration</a:t>
            </a:r>
          </a:p>
          <a:p>
            <a:pPr>
              <a:spcAft>
                <a:spcPts val="1200"/>
              </a:spcAft>
              <a:defRPr sz="1600"/>
            </a:pPr>
            <a:r>
              <a:t>  • Clustering comparisons, marker heatmaps, cell type UMAPs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Data Files:</a:t>
            </a:r>
          </a:p>
          <a:p>
            <a:pPr>
              <a:spcAft>
                <a:spcPts val="1200"/>
              </a:spcAft>
              <a:defRPr sz="1600"/>
            </a:pPr>
            <a:r>
              <a:t>  • Spleen_harmony_processed.h5ad (processed data)</a:t>
            </a:r>
          </a:p>
          <a:p>
            <a:pPr>
              <a:spcAft>
                <a:spcPts val="1200"/>
              </a:spcAft>
              <a:defRPr sz="1600"/>
            </a:pPr>
            <a:r>
              <a:t>  • Spleen_harmony_annotated.h5ad (with annotations)</a:t>
            </a:r>
          </a:p>
          <a:p>
            <a:pPr>
              <a:spcAft>
                <a:spcPts val="1200"/>
              </a:spcAft>
              <a:defRPr sz="1600"/>
            </a:pPr>
            <a:r>
              <a:t>  • cell_type_annotations.csv (per-cell annotations)</a:t>
            </a:r>
          </a:p>
          <a:p>
            <a:pPr>
              <a:spcAft>
                <a:spcPts val="1200"/>
              </a:spcAft>
              <a:defRPr sz="1600"/>
            </a:pPr>
            <a:r>
              <a:t>  • marker_genes_per_cluster.csv (top markers)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Reports:</a:t>
            </a:r>
          </a:p>
          <a:p>
            <a:pPr>
              <a:spcAft>
                <a:spcPts val="1200"/>
              </a:spcAft>
              <a:defRPr sz="1600"/>
            </a:pPr>
            <a:r>
              <a:t>  • ANALYSIS_REPORT.md (comprehensive report)</a:t>
            </a:r>
          </a:p>
          <a:p>
            <a:pPr>
              <a:spcAft>
                <a:spcPts val="1200"/>
              </a:spcAft>
              <a:defRPr sz="1600"/>
            </a:pPr>
            <a:r>
              <a:t>  • annotation_summary.txt (statistics)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Successfully analyzed 461,102 spleen cells with high quality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Harmony integration effectively corrected batch effects across 73 samples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Identified 11 major cell types and 31 refined subtypes with clear marker signatures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Cell type composition consistent with spleen immunology and function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Dataset shows active immune response with diverse lymphoid and myeloid populations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Results ready for downstream analysis and biological interpretation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Analysis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✓ 461,102 cells analyzed</a:t>
            </a:r>
          </a:p>
          <a:p>
            <a:pPr>
              <a:spcAft>
                <a:spcPts val="1200"/>
              </a:spcAft>
              <a:defRPr sz="2200"/>
            </a:pPr>
            <a:r>
              <a:t>✓ 40 PCs, Harmony integration, Louvain clustering</a:t>
            </a:r>
          </a:p>
          <a:p>
            <a:pPr>
              <a:spcAft>
                <a:spcPts val="1200"/>
              </a:spcAft>
              <a:defRPr sz="2200"/>
            </a:pPr>
            <a:r>
              <a:t>✓ 31 clusters → 11 major cell types</a:t>
            </a:r>
          </a:p>
          <a:p>
            <a:pPr>
              <a:spcAft>
                <a:spcPts val="1200"/>
              </a:spcAft>
              <a:defRPr sz="2200"/>
            </a:pPr>
            <a:r>
              <a:t>✓ Comprehensive annotation with marker genes</a:t>
            </a:r>
          </a:p>
          <a:p>
            <a:pPr>
              <a:spcAft>
                <a:spcPts val="1200"/>
              </a:spcAft>
              <a:defRPr sz="2200"/>
            </a:pPr>
            <a:r>
              <a:t>✓ All results saved with detailed reports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